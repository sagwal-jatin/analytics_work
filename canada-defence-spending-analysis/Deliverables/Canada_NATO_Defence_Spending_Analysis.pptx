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Canada (% of GDP)</c:v>
                </c:pt>
              </c:strCache>
            </c:strRef>
          </c:tx>
          <c:spPr>
            <a:ln w="31750" cap="flat">
              <a:solidFill>
                <a:srgbClr val="C8102E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8102E"/>
              </a:solidFill>
              <a:ln w="9525" cap="flat">
                <a:solidFill>
                  <a:srgbClr val="C8102E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  <c:pt idx="11">
                  <c:v>2025e</c:v>
                </c:pt>
                <c:pt idx="12">
                  <c:v>2026e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1.01</c:v>
                </c:pt>
                <c:pt idx="1">
                  <c:v>1.2</c:v>
                </c:pt>
                <c:pt idx="2">
                  <c:v>1.1599999999999999</c:v>
                </c:pt>
                <c:pt idx="3">
                  <c:v>1.44</c:v>
                </c:pt>
                <c:pt idx="4">
                  <c:v>1.3</c:v>
                </c:pt>
                <c:pt idx="5">
                  <c:v>1.29</c:v>
                </c:pt>
                <c:pt idx="6">
                  <c:v>1.41</c:v>
                </c:pt>
                <c:pt idx="7">
                  <c:v>1.26</c:v>
                </c:pt>
                <c:pt idx="8">
                  <c:v>1.18</c:v>
                </c:pt>
                <c:pt idx="9">
                  <c:v>1.29</c:v>
                </c:pt>
                <c:pt idx="10">
                  <c:v>1.41</c:v>
                </c:pt>
                <c:pt idx="11">
                  <c:v>2.0299999999999998</c:v>
                </c:pt>
                <c:pt idx="12">
                  <c:v>2.13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E2D-45D2-9D03-99FF66BA086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NATO 2% Target</c:v>
                </c:pt>
              </c:strCache>
            </c:strRef>
          </c:tx>
          <c:spPr>
            <a:ln w="31750" cap="flat">
              <a:solidFill>
                <a:srgbClr val="B8C2D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B8C2D9"/>
              </a:solidFill>
              <a:ln w="9525" cap="flat">
                <a:solidFill>
                  <a:srgbClr val="B8C2D9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  <c:pt idx="11">
                  <c:v>2025e</c:v>
                </c:pt>
                <c:pt idx="12">
                  <c:v>2026e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E2D-45D2-9D03-99FF66BA08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CA" sz="1000" b="0" i="0" u="none" strike="noStrike">
                    <a:solidFill>
                      <a:srgbClr val="000000"/>
                    </a:solidFill>
                    <a:latin typeface="Arial"/>
                  </a:rPr>
                  <a:t>% of GDP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($M)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4A4F6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  <c:pt idx="11">
                  <c:v>2025e</c:v>
                </c:pt>
                <c:pt idx="12">
                  <c:v>2026e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20076</c:v>
                </c:pt>
                <c:pt idx="1">
                  <c:v>23900</c:v>
                </c:pt>
                <c:pt idx="2">
                  <c:v>23474</c:v>
                </c:pt>
                <c:pt idx="3">
                  <c:v>30761</c:v>
                </c:pt>
                <c:pt idx="4">
                  <c:v>29025</c:v>
                </c:pt>
                <c:pt idx="5">
                  <c:v>29949</c:v>
                </c:pt>
                <c:pt idx="6">
                  <c:v>31289</c:v>
                </c:pt>
                <c:pt idx="7">
                  <c:v>31976</c:v>
                </c:pt>
                <c:pt idx="8">
                  <c:v>33707</c:v>
                </c:pt>
                <c:pt idx="9">
                  <c:v>38385</c:v>
                </c:pt>
                <c:pt idx="10">
                  <c:v>43917</c:v>
                </c:pt>
                <c:pt idx="11">
                  <c:v>65901</c:v>
                </c:pt>
                <c:pt idx="12">
                  <c:v>71517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8B-4E62-BE40-7BB5F85A9D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GDP</c:v>
                </c:pt>
              </c:strCache>
            </c:strRef>
          </c:tx>
          <c:spPr>
            <a:solidFill>
              <a:srgbClr val="6C89C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B91-44C5-A19E-BD3766971972}"/>
              </c:ext>
            </c:extLst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B91-44C5-A19E-BD376697197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9B91-44C5-A19E-BD3766971972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9B91-44C5-A19E-BD3766971972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9B91-44C5-A19E-BD3766971972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9B91-44C5-A19E-BD3766971972}"/>
              </c:ext>
            </c:extLst>
          </c:dPt>
          <c:dPt>
            <c:idx val="6"/>
            <c:invertIfNegative val="0"/>
            <c:bubble3D val="0"/>
            <c:spPr>
              <a:solidFill>
                <a:srgbClr val="C810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9B91-44C5-A19E-BD3766971972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9B91-44C5-A19E-BD3766971972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4A4F6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Poland</c:v>
                </c:pt>
                <c:pt idx="1">
                  <c:v>NATO Total</c:v>
                </c:pt>
                <c:pt idx="2">
                  <c:v>United States</c:v>
                </c:pt>
                <c:pt idx="3">
                  <c:v>Germany</c:v>
                </c:pt>
                <c:pt idx="4">
                  <c:v>United Kingdom</c:v>
                </c:pt>
                <c:pt idx="5">
                  <c:v>Portugal</c:v>
                </c:pt>
                <c:pt idx="6">
                  <c:v>Canada</c:v>
                </c:pt>
                <c:pt idx="7">
                  <c:v>Belgium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4.68</c:v>
                </c:pt>
                <c:pt idx="1">
                  <c:v>2.86</c:v>
                </c:pt>
                <c:pt idx="2">
                  <c:v>3.17</c:v>
                </c:pt>
                <c:pt idx="3">
                  <c:v>2.69</c:v>
                </c:pt>
                <c:pt idx="4">
                  <c:v>2.56</c:v>
                </c:pt>
                <c:pt idx="5">
                  <c:v>2.1</c:v>
                </c:pt>
                <c:pt idx="6">
                  <c:v>2.13</c:v>
                </c:pt>
                <c:pt idx="7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9B91-44C5-A19E-BD376697197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7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% of GDP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GDP</c:v>
                </c:pt>
              </c:strCache>
            </c:strRef>
          </c:tx>
          <c:spPr>
            <a:solidFill>
              <a:srgbClr val="8FA3D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E90-4C74-93BE-92B96C16FAE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E90-4C74-93BE-92B96C16FAE0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E90-4C74-93BE-92B96C16FAE0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4E90-4C74-93BE-92B96C16FAE0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4E90-4C74-93BE-92B96C16FAE0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4E90-4C74-93BE-92B96C16FAE0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4E90-4C74-93BE-92B96C16FAE0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4E90-4C74-93BE-92B96C16FAE0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4E90-4C74-93BE-92B96C16FAE0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4E90-4C74-93BE-92B96C16FAE0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4E90-4C74-93BE-92B96C16FAE0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7-4E90-4C74-93BE-92B96C16FAE0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9-4E90-4C74-93BE-92B96C16FAE0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B-4E90-4C74-93BE-92B96C16FAE0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D-4E90-4C74-93BE-92B96C16FAE0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4E90-4C74-93BE-92B96C16FAE0}"/>
              </c:ext>
            </c:extLst>
          </c:dPt>
          <c:dPt>
            <c:idx val="1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1-4E90-4C74-93BE-92B96C16FAE0}"/>
              </c:ext>
            </c:extLst>
          </c:dPt>
          <c:dPt>
            <c:idx val="1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3-4E90-4C74-93BE-92B96C16FAE0}"/>
              </c:ext>
            </c:extLst>
          </c:dPt>
          <c:dPt>
            <c:idx val="18"/>
            <c:invertIfNegative val="0"/>
            <c:bubble3D val="0"/>
            <c:spPr>
              <a:solidFill>
                <a:srgbClr val="C810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5-4E90-4C74-93BE-92B96C16FAE0}"/>
              </c:ext>
            </c:extLst>
          </c:dPt>
          <c:dPt>
            <c:idx val="1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7-4E90-4C74-93BE-92B96C16FAE0}"/>
              </c:ext>
            </c:extLst>
          </c:dPt>
          <c:dPt>
            <c:idx val="2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9-4E90-4C74-93BE-92B96C16FAE0}"/>
              </c:ext>
            </c:extLst>
          </c:dPt>
          <c:dPt>
            <c:idx val="2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B-4E90-4C74-93BE-92B96C16FAE0}"/>
              </c:ext>
            </c:extLst>
          </c:dPt>
          <c:dPt>
            <c:idx val="2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D-4E90-4C74-93BE-92B96C16FAE0}"/>
              </c:ext>
            </c:extLst>
          </c:dPt>
          <c:dPt>
            <c:idx val="2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F-4E90-4C74-93BE-92B96C16FAE0}"/>
              </c:ext>
            </c:extLst>
          </c:dPt>
          <c:dPt>
            <c:idx val="2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31-4E90-4C74-93BE-92B96C16FAE0}"/>
              </c:ext>
            </c:extLst>
          </c:dPt>
          <c:dPt>
            <c:idx val="2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33-4E90-4C74-93BE-92B96C16FAE0}"/>
              </c:ext>
            </c:extLst>
          </c:dPt>
          <c:dPt>
            <c:idx val="2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35-4E90-4C74-93BE-92B96C16FAE0}"/>
              </c:ext>
            </c:extLst>
          </c:dPt>
          <c:dPt>
            <c:idx val="2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37-4E90-4C74-93BE-92B96C16FAE0}"/>
              </c:ext>
            </c:extLst>
          </c:dPt>
          <c:dPt>
            <c:idx val="2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39-4E90-4C74-93BE-92B96C16FAE0}"/>
              </c:ext>
            </c:extLst>
          </c:dPt>
          <c:dPt>
            <c:idx val="2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3B-4E90-4C74-93BE-92B96C16FAE0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4A4F6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Sheet1!$A$2:$A$31</c:f>
              <c:strCache>
                <c:ptCount val="30"/>
                <c:pt idx="0">
                  <c:v>Lithuania</c:v>
                </c:pt>
                <c:pt idx="1">
                  <c:v>Estonia</c:v>
                </c:pt>
                <c:pt idx="2">
                  <c:v>Latvia</c:v>
                </c:pt>
                <c:pt idx="3">
                  <c:v>Poland</c:v>
                </c:pt>
                <c:pt idx="4">
                  <c:v>Greece</c:v>
                </c:pt>
                <c:pt idx="5">
                  <c:v>Denmark</c:v>
                </c:pt>
                <c:pt idx="6">
                  <c:v>Sweden</c:v>
                </c:pt>
                <c:pt idx="7">
                  <c:v>Norway</c:v>
                </c:pt>
                <c:pt idx="8">
                  <c:v>United States</c:v>
                </c:pt>
                <c:pt idx="9">
                  <c:v>Germany</c:v>
                </c:pt>
                <c:pt idx="10">
                  <c:v>Finland</c:v>
                </c:pt>
                <c:pt idx="11">
                  <c:v>Netherlands</c:v>
                </c:pt>
                <c:pt idx="12">
                  <c:v>United Kingdom</c:v>
                </c:pt>
                <c:pt idx="13">
                  <c:v>Romania</c:v>
                </c:pt>
                <c:pt idx="14">
                  <c:v>Bulgaria</c:v>
                </c:pt>
                <c:pt idx="15">
                  <c:v>France</c:v>
                </c:pt>
                <c:pt idx="16">
                  <c:v>Montenegro</c:v>
                </c:pt>
                <c:pt idx="17">
                  <c:v>Albania</c:v>
                </c:pt>
                <c:pt idx="18">
                  <c:v>Canada</c:v>
                </c:pt>
                <c:pt idx="19">
                  <c:v>Italy</c:v>
                </c:pt>
                <c:pt idx="20">
                  <c:v>Portugal</c:v>
                </c:pt>
                <c:pt idx="21">
                  <c:v>Hungary</c:v>
                </c:pt>
                <c:pt idx="22">
                  <c:v>North Macedonia</c:v>
                </c:pt>
                <c:pt idx="23">
                  <c:v>Croatia</c:v>
                </c:pt>
                <c:pt idx="24">
                  <c:v>Luxembourg</c:v>
                </c:pt>
                <c:pt idx="25">
                  <c:v>Slovak Republic</c:v>
                </c:pt>
                <c:pt idx="26">
                  <c:v>Czechia</c:v>
                </c:pt>
                <c:pt idx="27">
                  <c:v>Belgium</c:v>
                </c:pt>
                <c:pt idx="28">
                  <c:v>Spain</c:v>
                </c:pt>
                <c:pt idx="29">
                  <c:v>Slovenia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5.33</c:v>
                </c:pt>
                <c:pt idx="1">
                  <c:v>5.0999999999999996</c:v>
                </c:pt>
                <c:pt idx="2">
                  <c:v>4.92</c:v>
                </c:pt>
                <c:pt idx="3">
                  <c:v>4.68</c:v>
                </c:pt>
                <c:pt idx="4">
                  <c:v>3.65</c:v>
                </c:pt>
                <c:pt idx="5">
                  <c:v>3.49</c:v>
                </c:pt>
                <c:pt idx="6">
                  <c:v>3.22</c:v>
                </c:pt>
                <c:pt idx="7">
                  <c:v>3.17</c:v>
                </c:pt>
                <c:pt idx="8">
                  <c:v>3.17</c:v>
                </c:pt>
                <c:pt idx="9">
                  <c:v>2.69</c:v>
                </c:pt>
                <c:pt idx="10">
                  <c:v>2.65</c:v>
                </c:pt>
                <c:pt idx="11">
                  <c:v>2.58</c:v>
                </c:pt>
                <c:pt idx="12">
                  <c:v>2.56</c:v>
                </c:pt>
                <c:pt idx="13">
                  <c:v>2.4300000000000002</c:v>
                </c:pt>
                <c:pt idx="14">
                  <c:v>2.2200000000000002</c:v>
                </c:pt>
                <c:pt idx="15">
                  <c:v>2.2200000000000002</c:v>
                </c:pt>
                <c:pt idx="16">
                  <c:v>2.17</c:v>
                </c:pt>
                <c:pt idx="17">
                  <c:v>2.15</c:v>
                </c:pt>
                <c:pt idx="18">
                  <c:v>2.13</c:v>
                </c:pt>
                <c:pt idx="19">
                  <c:v>2.1</c:v>
                </c:pt>
                <c:pt idx="20">
                  <c:v>2.1</c:v>
                </c:pt>
                <c:pt idx="21">
                  <c:v>2.09</c:v>
                </c:pt>
                <c:pt idx="22">
                  <c:v>2.09</c:v>
                </c:pt>
                <c:pt idx="23">
                  <c:v>2.0299999999999998</c:v>
                </c:pt>
                <c:pt idx="24">
                  <c:v>2.0299999999999998</c:v>
                </c:pt>
                <c:pt idx="25">
                  <c:v>2.02</c:v>
                </c:pt>
                <c:pt idx="26">
                  <c:v>2.0099999999999998</c:v>
                </c:pt>
                <c:pt idx="27">
                  <c:v>2</c:v>
                </c:pt>
                <c:pt idx="28">
                  <c:v>2</c:v>
                </c:pt>
                <c:pt idx="29">
                  <c:v>1.61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C-4E90-4C74-93BE-92B96C16FAE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Canada</c:v>
                </c:pt>
              </c:strCache>
            </c:strRef>
          </c:tx>
          <c:spPr>
            <a:ln w="28575" cap="flat">
              <a:solidFill>
                <a:srgbClr val="C8102E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C8102E"/>
              </a:solidFill>
              <a:ln w="9525" cap="flat">
                <a:solidFill>
                  <a:srgbClr val="C8102E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  <c:pt idx="11">
                  <c:v>2025e</c:v>
                </c:pt>
                <c:pt idx="12">
                  <c:v>2026e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1.01</c:v>
                </c:pt>
                <c:pt idx="1">
                  <c:v>1.2</c:v>
                </c:pt>
                <c:pt idx="2">
                  <c:v>1.1599999999999999</c:v>
                </c:pt>
                <c:pt idx="3">
                  <c:v>1.44</c:v>
                </c:pt>
                <c:pt idx="4">
                  <c:v>1.3</c:v>
                </c:pt>
                <c:pt idx="5">
                  <c:v>1.29</c:v>
                </c:pt>
                <c:pt idx="6">
                  <c:v>1.41</c:v>
                </c:pt>
                <c:pt idx="7">
                  <c:v>1.26</c:v>
                </c:pt>
                <c:pt idx="8">
                  <c:v>1.18</c:v>
                </c:pt>
                <c:pt idx="9">
                  <c:v>1.29</c:v>
                </c:pt>
                <c:pt idx="10">
                  <c:v>1.41</c:v>
                </c:pt>
                <c:pt idx="11">
                  <c:v>2.0299999999999998</c:v>
                </c:pt>
                <c:pt idx="12">
                  <c:v>2.13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3E8-450C-9925-818865A50B3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United States</c:v>
                </c:pt>
              </c:strCache>
            </c:strRef>
          </c:tx>
          <c:spPr>
            <a:ln w="28575" cap="flat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1F3864"/>
              </a:solidFill>
              <a:ln w="9525" cap="flat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  <c:pt idx="11">
                  <c:v>2025e</c:v>
                </c:pt>
                <c:pt idx="12">
                  <c:v>2026e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3.71</c:v>
                </c:pt>
                <c:pt idx="1">
                  <c:v>3.52</c:v>
                </c:pt>
                <c:pt idx="2">
                  <c:v>3.51</c:v>
                </c:pt>
                <c:pt idx="3">
                  <c:v>3.42</c:v>
                </c:pt>
                <c:pt idx="4">
                  <c:v>3.39</c:v>
                </c:pt>
                <c:pt idx="5">
                  <c:v>3.43</c:v>
                </c:pt>
                <c:pt idx="6">
                  <c:v>3.69</c:v>
                </c:pt>
                <c:pt idx="7">
                  <c:v>3.55</c:v>
                </c:pt>
                <c:pt idx="8">
                  <c:v>3.43</c:v>
                </c:pt>
                <c:pt idx="9">
                  <c:v>3.25</c:v>
                </c:pt>
                <c:pt idx="10">
                  <c:v>3.38</c:v>
                </c:pt>
                <c:pt idx="11">
                  <c:v>3.17</c:v>
                </c:pt>
                <c:pt idx="12">
                  <c:v>3.17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3E8-450C-9925-818865A50B3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Poland</c:v>
                </c:pt>
              </c:strCache>
            </c:strRef>
          </c:tx>
          <c:spPr>
            <a:ln w="28575" cap="flat">
              <a:solidFill>
                <a:srgbClr val="2E8B57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2E8B57"/>
              </a:solidFill>
              <a:ln w="9525" cap="flat">
                <a:solidFill>
                  <a:srgbClr val="2E8B57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  <c:pt idx="11">
                  <c:v>2025e</c:v>
                </c:pt>
                <c:pt idx="12">
                  <c:v>2026e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1.86</c:v>
                </c:pt>
                <c:pt idx="1">
                  <c:v>2.11</c:v>
                </c:pt>
                <c:pt idx="2">
                  <c:v>1.91</c:v>
                </c:pt>
                <c:pt idx="3">
                  <c:v>1.89</c:v>
                </c:pt>
                <c:pt idx="4">
                  <c:v>2.02</c:v>
                </c:pt>
                <c:pt idx="5">
                  <c:v>1.99</c:v>
                </c:pt>
                <c:pt idx="6">
                  <c:v>2.2200000000000002</c:v>
                </c:pt>
                <c:pt idx="7">
                  <c:v>2.23</c:v>
                </c:pt>
                <c:pt idx="8">
                  <c:v>2.39</c:v>
                </c:pt>
                <c:pt idx="9">
                  <c:v>3.88</c:v>
                </c:pt>
                <c:pt idx="10">
                  <c:v>4.2</c:v>
                </c:pt>
                <c:pt idx="11">
                  <c:v>4.6100000000000003</c:v>
                </c:pt>
                <c:pt idx="12">
                  <c:v>4.68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3E8-450C-9925-818865A50B3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Germany</c:v>
                </c:pt>
              </c:strCache>
            </c:strRef>
          </c:tx>
          <c:spPr>
            <a:ln w="28575" cap="flat">
              <a:solidFill>
                <a:srgbClr val="8B5A2B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8B5A2B"/>
              </a:solidFill>
              <a:ln w="9525" cap="flat">
                <a:solidFill>
                  <a:srgbClr val="8B5A2B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  <c:pt idx="11">
                  <c:v>2025e</c:v>
                </c:pt>
                <c:pt idx="12">
                  <c:v>2026e</c:v>
                </c:pt>
              </c:strCache>
            </c: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1.1599999999999999</c:v>
                </c:pt>
                <c:pt idx="1">
                  <c:v>1.1599999999999999</c:v>
                </c:pt>
                <c:pt idx="2">
                  <c:v>1.18</c:v>
                </c:pt>
                <c:pt idx="3">
                  <c:v>1.21</c:v>
                </c:pt>
                <c:pt idx="4">
                  <c:v>1.23</c:v>
                </c:pt>
                <c:pt idx="5">
                  <c:v>1.32</c:v>
                </c:pt>
                <c:pt idx="6">
                  <c:v>1.49</c:v>
                </c:pt>
                <c:pt idx="7">
                  <c:v>1.43</c:v>
                </c:pt>
                <c:pt idx="8">
                  <c:v>1.46</c:v>
                </c:pt>
                <c:pt idx="9">
                  <c:v>1.6</c:v>
                </c:pt>
                <c:pt idx="10">
                  <c:v>2</c:v>
                </c:pt>
                <c:pt idx="11">
                  <c:v>2.2200000000000002</c:v>
                </c:pt>
                <c:pt idx="12">
                  <c:v>2.69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3E8-450C-9925-818865A50B32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United Kingdom</c:v>
                </c:pt>
              </c:strCache>
            </c:strRef>
          </c:tx>
          <c:spPr>
            <a:ln w="28575" cap="flat">
              <a:solidFill>
                <a:srgbClr val="6C89C4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6C89C4"/>
              </a:solidFill>
              <a:ln w="9525" cap="flat">
                <a:solidFill>
                  <a:srgbClr val="6C89C4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  <c:pt idx="11">
                  <c:v>2025e</c:v>
                </c:pt>
                <c:pt idx="12">
                  <c:v>2026e</c:v>
                </c:pt>
              </c:strCache>
            </c:strRef>
          </c:cat>
          <c:val>
            <c:numRef>
              <c:f>Sheet1!$F$2:$F$14</c:f>
              <c:numCache>
                <c:formatCode>General</c:formatCode>
                <c:ptCount val="13"/>
                <c:pt idx="0">
                  <c:v>2.13</c:v>
                </c:pt>
                <c:pt idx="1">
                  <c:v>2.02</c:v>
                </c:pt>
                <c:pt idx="2">
                  <c:v>2.0699999999999998</c:v>
                </c:pt>
                <c:pt idx="3">
                  <c:v>2.12</c:v>
                </c:pt>
                <c:pt idx="4">
                  <c:v>2.06</c:v>
                </c:pt>
                <c:pt idx="5">
                  <c:v>2.08</c:v>
                </c:pt>
                <c:pt idx="6">
                  <c:v>2.33</c:v>
                </c:pt>
                <c:pt idx="7">
                  <c:v>2.25</c:v>
                </c:pt>
                <c:pt idx="8">
                  <c:v>2.2200000000000002</c:v>
                </c:pt>
                <c:pt idx="9">
                  <c:v>2.2200000000000002</c:v>
                </c:pt>
                <c:pt idx="10">
                  <c:v>2.2799999999999998</c:v>
                </c:pt>
                <c:pt idx="11">
                  <c:v>2.3199999999999998</c:v>
                </c:pt>
                <c:pt idx="12">
                  <c:v>2.56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3E8-450C-9925-818865A50B32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NATO Total</c:v>
                </c:pt>
              </c:strCache>
            </c:strRef>
          </c:tx>
          <c:spPr>
            <a:ln w="28575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  <c:pt idx="11">
                  <c:v>2025e</c:v>
                </c:pt>
                <c:pt idx="12">
                  <c:v>2026e</c:v>
                </c:pt>
              </c:strCache>
            </c:strRef>
          </c:cat>
          <c:val>
            <c:numRef>
              <c:f>Sheet1!$G$2:$G$14</c:f>
              <c:numCache>
                <c:formatCode>General</c:formatCode>
                <c:ptCount val="13"/>
                <c:pt idx="0">
                  <c:v>2.56</c:v>
                </c:pt>
                <c:pt idx="1">
                  <c:v>2.46</c:v>
                </c:pt>
                <c:pt idx="2">
                  <c:v>2.46</c:v>
                </c:pt>
                <c:pt idx="3">
                  <c:v>2.37</c:v>
                </c:pt>
                <c:pt idx="4">
                  <c:v>2.38</c:v>
                </c:pt>
                <c:pt idx="5">
                  <c:v>2.5099999999999998</c:v>
                </c:pt>
                <c:pt idx="6">
                  <c:v>2.68</c:v>
                </c:pt>
                <c:pt idx="7">
                  <c:v>2.1800000000000002</c:v>
                </c:pt>
                <c:pt idx="8">
                  <c:v>2.4300000000000002</c:v>
                </c:pt>
                <c:pt idx="9">
                  <c:v>2.4500000000000002</c:v>
                </c:pt>
                <c:pt idx="10">
                  <c:v>2.65</c:v>
                </c:pt>
                <c:pt idx="11">
                  <c:v>2.75</c:v>
                </c:pt>
                <c:pt idx="12">
                  <c:v>2.86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53E8-450C-9925-818865A50B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% of GDP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Core Defence Target (%)</c:v>
                </c:pt>
              </c:strCache>
            </c:strRef>
          </c:tx>
          <c:spPr>
            <a:ln w="31750" cap="flat">
              <a:solidFill>
                <a:srgbClr val="C8102E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8102E"/>
              </a:solidFill>
              <a:ln w="9525" cap="flat">
                <a:solidFill>
                  <a:srgbClr val="C8102E"/>
                </a:solidFill>
                <a:prstDash val="solid"/>
                <a:round/>
              </a:ln>
              <a:effectLst/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2025-26</c:v>
                </c:pt>
                <c:pt idx="1">
                  <c:v>2026-27</c:v>
                </c:pt>
                <c:pt idx="2">
                  <c:v>2027-28</c:v>
                </c:pt>
                <c:pt idx="3">
                  <c:v>2028-29</c:v>
                </c:pt>
                <c:pt idx="4">
                  <c:v>2029-30</c:v>
                </c:pt>
                <c:pt idx="5">
                  <c:v>2030-31</c:v>
                </c:pt>
                <c:pt idx="6">
                  <c:v>2031-32</c:v>
                </c:pt>
                <c:pt idx="7">
                  <c:v>2032-33</c:v>
                </c:pt>
                <c:pt idx="8">
                  <c:v>2033-34</c:v>
                </c:pt>
                <c:pt idx="9">
                  <c:v>2034-35</c:v>
                </c:pt>
                <c:pt idx="10">
                  <c:v>2035-36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</c:v>
                </c:pt>
                <c:pt idx="1">
                  <c:v>2.15</c:v>
                </c:pt>
                <c:pt idx="2">
                  <c:v>2.2999999999999998</c:v>
                </c:pt>
                <c:pt idx="3">
                  <c:v>2.4500000000000002</c:v>
                </c:pt>
                <c:pt idx="4">
                  <c:v>2.6</c:v>
                </c:pt>
                <c:pt idx="5">
                  <c:v>2.75</c:v>
                </c:pt>
                <c:pt idx="6">
                  <c:v>2.9</c:v>
                </c:pt>
                <c:pt idx="7">
                  <c:v>3.05</c:v>
                </c:pt>
                <c:pt idx="8">
                  <c:v>3.2</c:v>
                </c:pt>
                <c:pt idx="9">
                  <c:v>3.35</c:v>
                </c:pt>
                <c:pt idx="10">
                  <c:v>3.5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41F-47B6-B13E-555D45CF34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Core + Ancillary Target (%)</c:v>
                </c:pt>
              </c:strCache>
            </c:strRef>
          </c:tx>
          <c:spPr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2025-26</c:v>
                </c:pt>
                <c:pt idx="1">
                  <c:v>2026-27</c:v>
                </c:pt>
                <c:pt idx="2">
                  <c:v>2027-28</c:v>
                </c:pt>
                <c:pt idx="3">
                  <c:v>2028-29</c:v>
                </c:pt>
                <c:pt idx="4">
                  <c:v>2029-30</c:v>
                </c:pt>
                <c:pt idx="5">
                  <c:v>2030-31</c:v>
                </c:pt>
                <c:pt idx="6">
                  <c:v>2031-32</c:v>
                </c:pt>
                <c:pt idx="7">
                  <c:v>2032-33</c:v>
                </c:pt>
                <c:pt idx="8">
                  <c:v>2033-34</c:v>
                </c:pt>
                <c:pt idx="9">
                  <c:v>2034-35</c:v>
                </c:pt>
                <c:pt idx="10">
                  <c:v>2035-36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3.5</c:v>
                </c:pt>
                <c:pt idx="1">
                  <c:v>3.65</c:v>
                </c:pt>
                <c:pt idx="2">
                  <c:v>3.8</c:v>
                </c:pt>
                <c:pt idx="3">
                  <c:v>3.95</c:v>
                </c:pt>
                <c:pt idx="4">
                  <c:v>4.0999999999999996</c:v>
                </c:pt>
                <c:pt idx="5">
                  <c:v>4.25</c:v>
                </c:pt>
                <c:pt idx="6">
                  <c:v>4.4000000000000004</c:v>
                </c:pt>
                <c:pt idx="7">
                  <c:v>4.55</c:v>
                </c:pt>
                <c:pt idx="8">
                  <c:v>4.7</c:v>
                </c:pt>
                <c:pt idx="9">
                  <c:v>4.8499999999999996</c:v>
                </c:pt>
                <c:pt idx="10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41F-47B6-B13E-555D45CF3498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CA" b="0" i="0" u="none" strike="noStrike">
                    <a:solidFill>
                      <a:srgbClr val="000000"/>
                    </a:solidFill>
                    <a:latin typeface="Arial"/>
                  </a:rPr>
                  <a:t>% of GDP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Gap ($B)</c:v>
                </c:pt>
              </c:strCache>
            </c:strRef>
          </c:tx>
          <c:spPr>
            <a:solidFill>
              <a:srgbClr val="C7CEE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A8B-4BFE-9D0A-2A17351332EB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A8B-4BFE-9D0A-2A17351332EB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A8B-4BFE-9D0A-2A17351332EB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A8B-4BFE-9D0A-2A17351332EB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1A8B-4BFE-9D0A-2A17351332EB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1A8B-4BFE-9D0A-2A17351332EB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1A8B-4BFE-9D0A-2A17351332EB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1A8B-4BFE-9D0A-2A17351332EB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1A8B-4BFE-9D0A-2A17351332EB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1A8B-4BFE-9D0A-2A17351332EB}"/>
              </c:ext>
            </c:extLst>
          </c:dPt>
          <c:dPt>
            <c:idx val="10"/>
            <c:invertIfNegative val="0"/>
            <c:bubble3D val="0"/>
            <c:spPr>
              <a:solidFill>
                <a:srgbClr val="C810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1A8B-4BFE-9D0A-2A17351332EB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4A4F6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2025-26</c:v>
                </c:pt>
                <c:pt idx="1">
                  <c:v>2026-27</c:v>
                </c:pt>
                <c:pt idx="2">
                  <c:v>2027-28</c:v>
                </c:pt>
                <c:pt idx="3">
                  <c:v>2028-29</c:v>
                </c:pt>
                <c:pt idx="4">
                  <c:v>2029-30</c:v>
                </c:pt>
                <c:pt idx="5">
                  <c:v>2030-31</c:v>
                </c:pt>
                <c:pt idx="6">
                  <c:v>2031-32</c:v>
                </c:pt>
                <c:pt idx="7">
                  <c:v>2032-33</c:v>
                </c:pt>
                <c:pt idx="8">
                  <c:v>2033-34</c:v>
                </c:pt>
                <c:pt idx="9">
                  <c:v>2034-35</c:v>
                </c:pt>
                <c:pt idx="10">
                  <c:v>2035-36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68.2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1A8B-4BFE-9D0A-2A17351332E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$ Billions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8228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286000"/>
            <a:ext cx="6400800" cy="64008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-2743200" y="4114800"/>
            <a:ext cx="5486400" cy="5486400"/>
          </a:xfrm>
          <a:prstGeom prst="ellipse">
            <a:avLst/>
          </a:prstGeom>
          <a:solidFill>
            <a:srgbClr val="C8102E">
              <a:alpha val="15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CANADA'S PATH TO NATO'S DEFENCE SPENDING TARGETS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Analysis of Canada's Fiscal Trajectory, 2014–2035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251960"/>
            <a:ext cx="502920" cy="54864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822960" y="4434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Jatin Sagwal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 Portfolio Project  |  Power BI Model &amp; Fiscal Gap Analysis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just hit NATO's 2% target after 35 years — and NATO already moved the goalposts.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42032" cy="3017520"/>
          </a:xfrm>
          <a:prstGeom prst="roundRect">
            <a:avLst>
              <a:gd name="adj" fmla="val 2878"/>
            </a:avLst>
          </a:prstGeom>
          <a:solidFill>
            <a:srgbClr val="F5F6FA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22677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880360"/>
            <a:ext cx="226771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Canada missed NATO's 2% of GDP benchmark before reaching it in FY2025-26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46704" y="1691640"/>
            <a:ext cx="2542032" cy="3017520"/>
          </a:xfrm>
          <a:prstGeom prst="roundRect">
            <a:avLst>
              <a:gd name="adj" fmla="val 2878"/>
            </a:avLst>
          </a:prstGeom>
          <a:solidFill>
            <a:srgbClr val="F5F6FA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3483864" y="1965960"/>
            <a:ext cx="22677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$71.5B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83864" y="2880360"/>
            <a:ext cx="226771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2026 annual defence spending — up more than 3.5x since 2014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691640"/>
            <a:ext cx="2542032" cy="3017520"/>
          </a:xfrm>
          <a:prstGeom prst="roundRect">
            <a:avLst>
              <a:gd name="adj" fmla="val 2878"/>
            </a:avLst>
          </a:prstGeom>
          <a:solidFill>
            <a:srgbClr val="F5F6FA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6281928" y="1965960"/>
            <a:ext cx="22677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281928" y="2880360"/>
            <a:ext cx="226771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NATO's new collective target by 2035 (3.5% core + 1.5% security infrastructure)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42832" y="1691640"/>
            <a:ext cx="2542032" cy="3017520"/>
          </a:xfrm>
          <a:prstGeom prst="roundRect">
            <a:avLst>
              <a:gd name="adj" fmla="val 2878"/>
            </a:avLst>
          </a:prstGeom>
          <a:solidFill>
            <a:srgbClr val="F5F6FA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9079992" y="1965960"/>
            <a:ext cx="22677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$68B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079992" y="2880360"/>
            <a:ext cx="226771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 funding gap to reach the 3.5% core target by 2035-36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9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NATO Annual Defence Expenditure Report 2026; Parliamentary Budget Officer, Feb 2026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Analysis Approach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BA process, not just a dashboard — from stakeholder needs to published insight.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42032" cy="3200400"/>
          </a:xfrm>
          <a:prstGeom prst="roundRect">
            <a:avLst>
              <a:gd name="adj" fmla="val 287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713232" y="196596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3232" y="2560320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Requirements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3383280"/>
            <a:ext cx="221284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stakeholder groups, interests, RACI, and communication plan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46704" y="1783080"/>
            <a:ext cx="2542032" cy="3200400"/>
          </a:xfrm>
          <a:prstGeom prst="roundRect">
            <a:avLst>
              <a:gd name="adj" fmla="val 2878"/>
            </a:avLst>
          </a:prstGeom>
          <a:solidFill>
            <a:srgbClr val="C8102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3511296" y="196596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11296" y="2560320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Requirements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11296" y="3383280"/>
            <a:ext cx="221284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functional &amp; non-functional requirements, data needs, success criteria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44768" y="1783080"/>
            <a:ext cx="2542032" cy="3200400"/>
          </a:xfrm>
          <a:prstGeom prst="roundRect">
            <a:avLst>
              <a:gd name="adj" fmla="val 287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6309360" y="196596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09360" y="2560320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Data Sourcing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3383280"/>
            <a:ext cx="221284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analytical approach and sourced NATO, StatCan, and PBO datasets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42832" y="1783080"/>
            <a:ext cx="2542032" cy="3200400"/>
          </a:xfrm>
          <a:prstGeom prst="roundRect">
            <a:avLst>
              <a:gd name="adj" fmla="val 2878"/>
            </a:avLst>
          </a:prstGeom>
          <a:solidFill>
            <a:srgbClr val="C8102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9107424" y="196596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07424" y="2560320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&amp; Dashboard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07424" y="3383280"/>
            <a:ext cx="221284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star-schema model in Power BI with DAX measures and 8 visuals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9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documentation: Stakeholder Requirements, Project Requirements, and Strategy documents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&amp; Tools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primary-source data only — fully traceable and reproducible.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76072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NATO Annual Defence Expenditure Report 2026 — spending by country, % of GDP, 2014–2026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3182112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Canada, Table 36-10-0104-01 — quarterly nominal GDP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4078224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Parliamentary Budget Officer — Fiscal Implications of Meeting NATO's 5% Commitment (Feb 2026)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4974336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National Defence — official 2% milestone announcement, March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160020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681228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METHOD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12280" y="22860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— data cleaning, unpivoting, type shaping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12280" y="3182112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— star-schema model, DAX measures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12280" y="4078224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— % of GDP, YoY change, NATO rank, gap calculations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12280" y="4974336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Service — publishing &amp; sharing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Historical Trajectory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Canada's defence spending, 2014–2026 — as a share of GDP and in absolute dollars.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GDP vs. NATO's 2% Benchmark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37360"/>
          <a:ext cx="55778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263640" y="13716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Spending ($ CAD Millions)</a:t>
            </a:r>
            <a:endParaRPr lang="en-US" sz="13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172200" y="1737360"/>
          <a:ext cx="55778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9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NATO Annual Defence Expenditure Report 2026. 2025/2026 figures are NATO estimates.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Canada Stands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expenditure as % of GDP, selected NATO members — 2026 estimate.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731520" y="1463040"/>
          <a:ext cx="1069848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9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NATO Annual Defence Expenditure Report 2026 (2026e). Canada highlighted in red.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NATO Ranking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30 NATO member countries, % of GDP — 2026 estimate. Canada ranks 19th.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1463040" y="1234440"/>
          <a:ext cx="9601200" cy="525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9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NATO Annual Defence Expenditure Report 2026 (2026e). Canada highlighted in red.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 Trajectories, 2014–2026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Canada's growth against key NATO peers and the alliance average.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731520" y="1417320"/>
          <a:ext cx="10698480" cy="4892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9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NATO Annual Defence Expenditure Report 2026.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Glide Path to NATO's 2035 Targets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(3.5%) and Core + Ancillary (5.0%) targets, 2025-26 to 2035-36.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731520" y="1417320"/>
          <a:ext cx="10698480" cy="4892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9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Parliamentary Budget Officer, Fiscal Implications of Meeting NATO's 5% Commitment (Feb 2026).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Funding Gap to the 3.5% Core Target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cash gap, 2025-26 to 2035-36 — the gap is concentrated almost entirely in the final year.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731520" y="1463040"/>
          <a:ext cx="1069848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9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Parliamentary Budget Officer, Feb 2026. PBO published only a terminal-year gap figure, not an interim glide path.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a Glance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542032" cy="3108960"/>
          </a:xfrm>
          <a:prstGeom prst="roundRect">
            <a:avLst>
              <a:gd name="adj" fmla="val 287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713232" y="1920240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2.13%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13232" y="2880360"/>
            <a:ext cx="221284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Canada's current defence spending as % of GDP (2026e)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46704" y="1600200"/>
            <a:ext cx="2542032" cy="3108960"/>
          </a:xfrm>
          <a:prstGeom prst="roundRect">
            <a:avLst>
              <a:gd name="adj" fmla="val 287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3511296" y="1920240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19th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511296" y="2880360"/>
            <a:ext cx="221284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Canada's rank among 30 NATO members (2026e)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44768" y="1600200"/>
            <a:ext cx="2542032" cy="3108960"/>
          </a:xfrm>
          <a:prstGeom prst="roundRect">
            <a:avLst>
              <a:gd name="adj" fmla="val 287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6309360" y="1920240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6.3 pts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309360" y="2880360"/>
            <a:ext cx="221284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debt-to-GDP impact of reaching the 3.5% core target by 2035-36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42832" y="1600200"/>
            <a:ext cx="2542032" cy="3108960"/>
          </a:xfrm>
          <a:prstGeom prst="roundRect">
            <a:avLst>
              <a:gd name="adj" fmla="val 287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9107424" y="1920240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$68.2B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107424" y="2880360"/>
            <a:ext cx="221284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funding gap to reach the 3.5% core target in 2035-36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NATO Annual Defence Expenditure Report 2026; Parliamentary Budget Officer, Feb 2026.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365760" cy="54864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milestone, not the finish line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Canada's 2026 spending sits at 2.13% of GDP — above the old 2% bar, but 19th of 30 NATO members and well below the new 3.5% core target.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37160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6446520" y="1645920"/>
            <a:ext cx="365760" cy="54864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6446520" y="178308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back-loaded, not gradual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46520" y="2331720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PBO's published path shows almost no funding gap through the early 2030s, then a sudden $68.2B jump in the terminal year (2035-36) — a compressed, not gradual, ramp.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822960" y="4251960"/>
            <a:ext cx="365760" cy="54864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822960" y="438912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Debt-to-GDP impact is material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937760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the 3.5% core target is projected to add roughly 6.3 percentage points to Canada's debt-to-GDP ratio by 2035-36.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397764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6446520" y="4251960"/>
            <a:ext cx="365760" cy="54864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6446520" y="438912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still trails most peers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6520" y="4937760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after the 2026 increase, Canada sits behind the US, Poland, Germany, and the UK — solidly in the bottom half of the alliance.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— stakeholder, requirements, and strategy documents — and the live Power BI dashboard are available on request.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4434840"/>
            <a:ext cx="502920" cy="54864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822960" y="4663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Jatin Sagwal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845</Words>
  <Application>Microsoft Office PowerPoint</Application>
  <PresentationFormat>Widescreen</PresentationFormat>
  <Paragraphs>103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Jatin Sagwal</cp:lastModifiedBy>
  <cp:revision>3</cp:revision>
  <dcterms:created xsi:type="dcterms:W3CDTF">2026-08-08T20:13:33Z</dcterms:created>
  <dcterms:modified xsi:type="dcterms:W3CDTF">2026-08-08T20:28:10Z</dcterms:modified>
</cp:coreProperties>
</file>