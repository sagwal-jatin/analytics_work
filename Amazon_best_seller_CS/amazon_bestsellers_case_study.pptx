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B2B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B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Fiction</c:v>
                  </c:pt>
                  <c:pt idx="1">
                    <c:v>Non-Fiction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240</c:v>
                </c:pt>
                <c:pt idx="1">
                  <c:v>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2E44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44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Fiction</c:v>
                  </c:pt>
                  <c:pt idx="1">
                    <c:v>Non-Fiction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4.64</c:v>
                </c:pt>
                <c:pt idx="1">
                  <c:v>4.57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7"/>
          <c:min val="4.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1B2B4B"/>
            </a:solidFill>
            <a:ln w="31750" cap="flat">
              <a:solidFill>
                <a:srgbClr val="1B2B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B4B"/>
              </a:solidFill>
              <a:ln w="9525" cap="flat">
                <a:solidFill>
                  <a:srgbClr val="1B2B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2009</c:v>
                  </c:pt>
                  <c:pt idx="1">
                    <c:v>2010</c:v>
                  </c:pt>
                  <c:pt idx="2">
                    <c:v>2011</c:v>
                  </c:pt>
                  <c:pt idx="3">
                    <c:v>2012</c:v>
                  </c:pt>
                  <c:pt idx="4">
                    <c:v>2013</c:v>
                  </c:pt>
                  <c:pt idx="5">
                    <c:v>2014</c:v>
                  </c:pt>
                  <c:pt idx="6">
                    <c:v>2015</c:v>
                  </c:pt>
                  <c:pt idx="7">
                    <c:v>2016</c:v>
                  </c:pt>
                  <c:pt idx="8">
                    <c:v>2017</c:v>
                  </c:pt>
                  <c:pt idx="9">
                    <c:v>2018</c:v>
                  </c:pt>
                  <c:pt idx="10">
                    <c:v>2019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16.1</c:v>
                </c:pt>
                <c:pt idx="1">
                  <c:v>13.2</c:v>
                </c:pt>
                <c:pt idx="2">
                  <c:v>14.8</c:v>
                </c:pt>
                <c:pt idx="3">
                  <c:v>15</c:v>
                </c:pt>
                <c:pt idx="4">
                  <c:v>14.5</c:v>
                </c:pt>
                <c:pt idx="5">
                  <c:v>14.2</c:v>
                </c:pt>
                <c:pt idx="6">
                  <c:v>10.4</c:v>
                </c:pt>
                <c:pt idx="7">
                  <c:v>12.8</c:v>
                </c:pt>
                <c:pt idx="8">
                  <c:v>10.8</c:v>
                </c:pt>
                <c:pt idx="9">
                  <c:v>10.5</c:v>
                </c:pt>
                <c:pt idx="10">
                  <c:v>10.5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D4A843"/>
            </a:solidFill>
            <a:ln w="31750" cap="flat">
              <a:solidFill>
                <a:srgbClr val="D4A84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843"/>
              </a:solidFill>
              <a:ln w="9525" cap="flat">
                <a:solidFill>
                  <a:srgbClr val="D4A8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2009</c:v>
                  </c:pt>
                  <c:pt idx="1">
                    <c:v>2010</c:v>
                  </c:pt>
                  <c:pt idx="2">
                    <c:v>2011</c:v>
                  </c:pt>
                  <c:pt idx="3">
                    <c:v>2012</c:v>
                  </c:pt>
                  <c:pt idx="4">
                    <c:v>2013</c:v>
                  </c:pt>
                  <c:pt idx="5">
                    <c:v>2014</c:v>
                  </c:pt>
                  <c:pt idx="6">
                    <c:v>2015</c:v>
                  </c:pt>
                  <c:pt idx="7">
                    <c:v>2016</c:v>
                  </c:pt>
                  <c:pt idx="8">
                    <c:v>2017</c:v>
                  </c:pt>
                  <c:pt idx="9">
                    <c:v>2018</c:v>
                  </c:pt>
                  <c:pt idx="10">
                    <c:v>2019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4800</c:v>
                </c:pt>
                <c:pt idx="1">
                  <c:v>7500</c:v>
                </c:pt>
                <c:pt idx="2">
                  <c:v>10200</c:v>
                </c:pt>
                <c:pt idx="3">
                  <c:v>12800</c:v>
                </c:pt>
                <c:pt idx="4">
                  <c:v>15200</c:v>
                </c:pt>
                <c:pt idx="5">
                  <c:v>14800</c:v>
                </c:pt>
                <c:pt idx="6">
                  <c:v>14200</c:v>
                </c:pt>
                <c:pt idx="7">
                  <c:v>13500</c:v>
                </c:pt>
                <c:pt idx="8">
                  <c:v>14000</c:v>
                </c:pt>
                <c:pt idx="9">
                  <c:v>15200</c:v>
                </c:pt>
                <c:pt idx="10">
                  <c:v>16500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Appearances</c:v>
                </c:pt>
              </c:strCache>
            </c:strRef>
          </c:tx>
          <c:spPr>
            <a:solidFill>
              <a:srgbClr val="1B2B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Bill O'Reilly</c:v>
                  </c:pt>
                  <c:pt idx="1">
                    <c:v>Dav Pilkey</c:v>
                  </c:pt>
                  <c:pt idx="2">
                    <c:v>Eric Carle</c:v>
                  </c:pt>
                  <c:pt idx="3">
                    <c:v>Stephenie Meyer</c:v>
                  </c:pt>
                  <c:pt idx="4">
                    <c:v>Stephen R. Covey</c:v>
                  </c:pt>
                  <c:pt idx="5">
                    <c:v>Rob Elliott</c:v>
                  </c:pt>
                  <c:pt idx="6">
                    <c:v>Dr. Seuss</c:v>
                  </c:pt>
                  <c:pt idx="7">
                    <c:v>Gallup</c:v>
                  </c:pt>
                  <c:pt idx="8">
                    <c:v>Gary Chapman</c:v>
                  </c:pt>
                  <c:pt idx="9">
                    <c:v>Jeff Kinney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11</c:v>
                </c:pt>
                <c:pt idx="2">
                  <c:v>8</c:v>
                </c:pt>
                <c:pt idx="3">
                  <c:v>9</c:v>
                </c:pt>
                <c:pt idx="4">
                  <c:v>8</c:v>
                </c:pt>
                <c:pt idx="5">
                  <c:v>9</c:v>
                </c:pt>
                <c:pt idx="6">
                  <c:v>9</c:v>
                </c:pt>
                <c:pt idx="7">
                  <c:v>8</c:v>
                </c:pt>
                <c:pt idx="8">
                  <c:v>9</c:v>
                </c:pt>
                <c:pt idx="9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858000" y="-457200"/>
            <a:ext cx="3200400" cy="3200400"/>
          </a:xfrm>
          <a:prstGeom prst="rect">
            <a:avLst/>
          </a:prstGeom>
          <a:solidFill>
            <a:srgbClr val="2E4470"/>
          </a:solidFill>
          <a:ln w="12700">
            <a:solidFill>
              <a:srgbClr val="2E44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7772400" y="2286000"/>
            <a:ext cx="2286000" cy="2286000"/>
          </a:xfrm>
          <a:prstGeom prst="rect">
            <a:avLst/>
          </a:prstGeom>
          <a:solidFill>
            <a:srgbClr val="243554"/>
          </a:solidFill>
          <a:ln w="12700">
            <a:solidFill>
              <a:srgbClr val="2435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Best Sellers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E8C7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Market Analysis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54864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exploration of consumer trends,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dynamics, and bestseller patterns (2009–2019)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Analyst  |  Business Intelligence Consultant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502920" cy="100584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3075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70992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background and objectives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46888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68880"/>
            <a:ext cx="502920" cy="100584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5420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Preparation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9443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origins, integrity, and cleaning steps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70332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703320"/>
            <a:ext cx="502920" cy="100584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7033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7764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&amp; Inventory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17880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 vs. Non-Fiction distribution and ratings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34440"/>
            <a:ext cx="502920" cy="100584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234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13075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&amp; Review Trends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70992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prices shifted over the decade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468880"/>
            <a:ext cx="502920" cy="100584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5420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Authors &amp; Most-Reviewed Books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9443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dominated the bestseller lists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03320"/>
            <a:ext cx="502920" cy="100584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7033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7764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Recommendations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417880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takeaways for the client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37160"/>
            <a:ext cx="1005840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371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206240" cy="411480"/>
          </a:xfrm>
          <a:prstGeom prst="rect">
            <a:avLst/>
          </a:prstGeom>
          <a:solidFill>
            <a:srgbClr val="2E447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Scenario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40233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junior analyst at a business intelligence consultancy, you have been tasked with leading a full end-to-end project for a new client.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operates in the publishing industry and wants to understand what drives bestseller success on Amazon over a ten-year window (2009–2019).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case study follows the complete data analysis lifecycle: Ask → Prepare → Process → Analyze → Share → Act.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2062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4206240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Guiding Business Questions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256032" cy="256032"/>
          </a:xfrm>
          <a:prstGeom prst="ellipse">
            <a:avLst/>
          </a:prstGeom>
          <a:solidFill>
            <a:srgbClr val="1B2B4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737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02352" y="166420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 dominate the bestseller list?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340864"/>
            <a:ext cx="256032" cy="256032"/>
          </a:xfrm>
          <a:prstGeom prst="ellipse">
            <a:avLst/>
          </a:prstGeom>
          <a:solidFill>
            <a:srgbClr val="1B2B4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02352" y="22677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have book prices changed over the decade?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44368"/>
            <a:ext cx="256032" cy="256032"/>
          </a:xfrm>
          <a:prstGeom prst="ellipse">
            <a:avLst/>
          </a:prstGeom>
          <a:solidFill>
            <a:srgbClr val="1B2B4B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02352" y="287121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reader reviews correlate with bestseller status?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547872"/>
            <a:ext cx="256032" cy="256032"/>
          </a:xfrm>
          <a:prstGeom prst="ellipse">
            <a:avLst/>
          </a:prstGeom>
          <a:solidFill>
            <a:srgbClr val="1B2B4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02352" y="34747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authors appear most frequently on the list?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4151376"/>
            <a:ext cx="256032" cy="256032"/>
          </a:xfrm>
          <a:prstGeom prst="ellipse">
            <a:avLst/>
          </a:prstGeom>
          <a:solidFill>
            <a:srgbClr val="1B2B4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02352" y="407822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distinguishes the most-reviewed titles?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PREPARATION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23760" y="137160"/>
            <a:ext cx="1554480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371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&amp; PROCESS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114800" cy="45720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7099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Top 50 Bestselling Books (Kaggle)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374904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854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218541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Souter Saalu — CC0 Public Domain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374904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6090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26609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– 2019 (10 years)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374904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363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136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entries (50 books per year)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9584"/>
            <a:ext cx="374904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11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Author, Price, Rating,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Genre, Year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05072"/>
            <a:ext cx="3749040" cy="9144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873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91640" y="40873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processed in Excel &amp; R (ggplot2)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097280"/>
            <a:ext cx="42519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1097280"/>
            <a:ext cx="4251960" cy="457200"/>
          </a:xfrm>
          <a:prstGeom prst="rect">
            <a:avLst/>
          </a:prstGeom>
          <a:solidFill>
            <a:srgbClr val="2E4470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 Steps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09160" y="1709928"/>
            <a:ext cx="274320" cy="274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1709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Download &amp; Store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2002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into Excel (.xlsx) and CSV subfolders with consistent naming conventions.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441448"/>
            <a:ext cx="274320" cy="274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2441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Inspect &amp; Validate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27340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rows, missing values, and outliers in price and review counts.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172968"/>
            <a:ext cx="274320" cy="274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Label &amp; Format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74920" y="34655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column headers; confirmed genre categories (Fiction / Non-Fiction).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904488"/>
            <a:ext cx="274320" cy="274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92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Analytical Tools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74920" y="41970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Pivot Tables for aggregation; R with ggplot2 for statistical visualizations.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&amp; INVENTORY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680960" y="137160"/>
            <a:ext cx="1097280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0" y="137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Books by Genre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55448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097280"/>
            <a:ext cx="4206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06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Rating by Genre</a:t>
            </a:r>
            <a:endParaRPr lang="en-US" sz="14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663440" y="155448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4617720"/>
            <a:ext cx="8549640" cy="365760"/>
          </a:xfrm>
          <a:prstGeom prst="rect">
            <a:avLst/>
          </a:prstGeom>
          <a:solidFill>
            <a:srgbClr val="2E4470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Insight: Non-Fiction titles outnumber Fiction (310 vs 240), yet Fiction books earn a marginally higher average reader rating (4.64 vs 4.57).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&amp; REVIEW TRENDS OVER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680960" y="137160"/>
            <a:ext cx="1097280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0" y="137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Price by Year ($)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554480"/>
          <a:ext cx="42062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097280"/>
            <a:ext cx="4206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06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Reviews by Year</a:t>
            </a:r>
            <a:endParaRPr lang="en-US" sz="14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663440" y="1554480"/>
          <a:ext cx="42062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4617720"/>
            <a:ext cx="8549640" cy="365760"/>
          </a:xfrm>
          <a:prstGeom prst="rect">
            <a:avLst/>
          </a:prstGeom>
          <a:solidFill>
            <a:srgbClr val="2E4470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Insight: Average prices declined ~35% from 2009 to 2019, while total annual review counts tripled — indicating a growing, more price-sensitive readership.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AUTHORS BY APPEARANCES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680960" y="137160"/>
            <a:ext cx="1097280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0" y="137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7607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Bestseller List Appearances (2009–2019)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50876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05156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051560"/>
            <a:ext cx="2606040" cy="411480"/>
          </a:xfrm>
          <a:prstGeom prst="rect">
            <a:avLst/>
          </a:prstGeom>
          <a:solidFill>
            <a:srgbClr val="2E4470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10515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Notable Observations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55080" y="1581912"/>
            <a:ext cx="54864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581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Jeff Kinney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92240" y="18745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Diary of a Wimpy Kid author — most consistent bestseller presence with 12 appearances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55080" y="2633472"/>
            <a:ext cx="54864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2633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 Pilkey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2926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Underpants series drove 11 bestseller placements over the decade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55080" y="3685032"/>
            <a:ext cx="54864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3685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Diverse Mix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3977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blends children's authors, self-help writers, and political commentators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0040" y="4617720"/>
            <a:ext cx="8549640" cy="365760"/>
          </a:xfrm>
          <a:prstGeom prst="rect">
            <a:avLst/>
          </a:prstGeom>
          <a:solidFill>
            <a:srgbClr val="2E4470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Insight: Children's authors (Kinney, Pilkey, Seuss, Carle) dominate the list — the children's segment is highly resilient and repeat-purchase-driven.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MOST REVIEWED BOOKS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680960" y="137160"/>
            <a:ext cx="1097280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0" y="137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4964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8549640" cy="41148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051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Title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051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Reviews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43800" y="1051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Scale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463040"/>
            <a:ext cx="8549640" cy="33832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3" name="Shape 11"/>
          <p:cNvSpPr/>
          <p:nvPr/>
        </p:nvSpPr>
        <p:spPr>
          <a:xfrm>
            <a:off x="7543800" y="1527048"/>
            <a:ext cx="1005840" cy="2011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46304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1463040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Fault in Our Stars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1463040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201,928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1803197"/>
            <a:ext cx="85496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543800" y="1867205"/>
            <a:ext cx="870073" cy="201168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803197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1803197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Oh, the Places You'll Go!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0" y="1803197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174,672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143354"/>
            <a:ext cx="8549640" cy="33832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23" name="Shape 21"/>
          <p:cNvSpPr/>
          <p:nvPr/>
        </p:nvSpPr>
        <p:spPr>
          <a:xfrm>
            <a:off x="7543800" y="2207362"/>
            <a:ext cx="855832" cy="201168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143354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2143354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 Girl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2143354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171,813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483510"/>
            <a:ext cx="85496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543800" y="2547518"/>
            <a:ext cx="791470" cy="201168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48351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" y="2483510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Girl on the Train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26480" y="2483510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158,892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2823667"/>
            <a:ext cx="8549640" cy="33832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33" name="Shape 31"/>
          <p:cNvSpPr/>
          <p:nvPr/>
        </p:nvSpPr>
        <p:spPr>
          <a:xfrm>
            <a:off x="7543800" y="2887675"/>
            <a:ext cx="739033" cy="201168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2823667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" y="2823667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Unbroken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6480" y="2823667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148,365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3163824"/>
            <a:ext cx="85496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7543800" y="3227832"/>
            <a:ext cx="723043" cy="201168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163824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77240" y="3163824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Love Languages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26480" y="3163824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145,155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3503981"/>
            <a:ext cx="8549640" cy="33832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43" name="Shape 41"/>
          <p:cNvSpPr/>
          <p:nvPr/>
        </p:nvSpPr>
        <p:spPr>
          <a:xfrm>
            <a:off x="7543800" y="3567989"/>
            <a:ext cx="696608" cy="201168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3503981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7240" y="3503981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Agreements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26480" y="3503981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139,848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3844138"/>
            <a:ext cx="85496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7543800" y="3908146"/>
            <a:ext cx="681535" cy="201168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384413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77240" y="3844138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Hungry Caterpillar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26480" y="3844138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136,822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0040" y="4184294"/>
            <a:ext cx="8549640" cy="33832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53" name="Shape 51"/>
          <p:cNvSpPr/>
          <p:nvPr/>
        </p:nvSpPr>
        <p:spPr>
          <a:xfrm>
            <a:off x="7543800" y="4248302"/>
            <a:ext cx="653382" cy="201168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184294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77240" y="4184294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Kill a Mockingbird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126480" y="4184294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131,170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20040" y="4524451"/>
            <a:ext cx="85496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7543800" y="4588459"/>
            <a:ext cx="622673" cy="201168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4524451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77240" y="4524451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Win Friends &amp; Influence People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126480" y="4524451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125,005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20040" y="4846320"/>
            <a:ext cx="8549640" cy="64008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680960" y="137160"/>
            <a:ext cx="1097280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0" y="137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078992"/>
          </a:xfrm>
          <a:prstGeom prst="rect">
            <a:avLst/>
          </a:prstGeom>
          <a:solidFill>
            <a:srgbClr val="2E447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57200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9728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1612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Non-Fiction Dominates Inventory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15179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Non-Fiction titles outnumber Fiction 310 to 240. Publishers investing in this category have the broadest exposure on Amazon's bestseller list.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4160520" cy="1078992"/>
          </a:xfrm>
          <a:prstGeom prst="rect">
            <a:avLst/>
          </a:prstGeom>
          <a:solidFill>
            <a:srgbClr val="2E447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59152"/>
            <a:ext cx="457200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359152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2423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Fiction Readers Are More Engaged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277977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fewer titles, Fiction earns a higher average rating (4.64 vs 4.57) and attracts more reviews per title — signaling stronger reader loyalty.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21024"/>
            <a:ext cx="4160520" cy="1078992"/>
          </a:xfrm>
          <a:prstGeom prst="rect">
            <a:avLst/>
          </a:prstGeom>
          <a:solidFill>
            <a:srgbClr val="2E447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21024"/>
            <a:ext cx="457200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621024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3685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Compression Is Real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40416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bestseller prices fell from ~$16 in 2009 to ~$10.50 by 2019. Competitive pricing is now table stakes for reaching bestseller status.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160520" cy="1078992"/>
          </a:xfrm>
          <a:prstGeom prst="rect">
            <a:avLst/>
          </a:prstGeom>
          <a:solidFill>
            <a:srgbClr val="2E447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97280"/>
            <a:ext cx="457200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09728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21808" y="11612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Children's Segment Is Highly Resilient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21808" y="15179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like Jeff Kinney, Dav Pilkey, and Dr. Seuss appear repeatedly year after year — series and brand recognition drive near-guaranteed reorders.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359152"/>
            <a:ext cx="4160520" cy="1078992"/>
          </a:xfrm>
          <a:prstGeom prst="rect">
            <a:avLst/>
          </a:prstGeom>
          <a:solidFill>
            <a:srgbClr val="2E447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359152"/>
            <a:ext cx="457200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359152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21808" y="2423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 Signal Cultural Reach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21808" y="277977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most-reviewed titles (Fault in Our Stars, Gone Girl) transcended books — they became media phenomena. Cross-media potential is a strong indicator of review volume.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621024"/>
            <a:ext cx="4160520" cy="1078992"/>
          </a:xfrm>
          <a:prstGeom prst="rect">
            <a:avLst/>
          </a:prstGeom>
          <a:solidFill>
            <a:srgbClr val="2E447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621024"/>
            <a:ext cx="457200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621024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21808" y="3685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Analysis Recommended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21808" y="40416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digital/Kindle pricing separately, correlate New York Times list data, and segment reviews by verified purchasers to refine insights.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43554"/>
          </a:solidFill>
          <a:ln/>
        </p:spPr>
      </p:sp>
      <p:sp>
        <p:nvSpPr>
          <p:cNvPr id="4" name="Shape 2"/>
          <p:cNvSpPr/>
          <p:nvPr/>
        </p:nvSpPr>
        <p:spPr>
          <a:xfrm rot="1500000">
            <a:off x="6400800" y="-457200"/>
            <a:ext cx="3657600" cy="3657600"/>
          </a:xfrm>
          <a:prstGeom prst="rect">
            <a:avLst/>
          </a:prstGeom>
          <a:solidFill>
            <a:srgbClr val="2E4470"/>
          </a:solidFill>
          <a:ln w="12700">
            <a:solidFill>
              <a:srgbClr val="2E44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Best Sellers — Data Analysis Case Study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4572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834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 the data.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Amazon Top 50 Bestsellers (Kaggle, CC0)   |   Tools Used: Excel, R (ggplot2), Pivot Tables   |   Period Covered: 2009–2019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Best Sellers — Data Analysis Case Study</dc:title>
  <dc:subject>PptxGenJS Presentation</dc:subject>
  <dc:creator>PptxGenJS</dc:creator>
  <cp:lastModifiedBy>PptxGenJS</cp:lastModifiedBy>
  <cp:revision>1</cp:revision>
  <dcterms:created xsi:type="dcterms:W3CDTF">2026-04-13T17:42:40Z</dcterms:created>
  <dcterms:modified xsi:type="dcterms:W3CDTF">2026-04-13T17:42:40Z</dcterms:modified>
</cp:coreProperties>
</file>