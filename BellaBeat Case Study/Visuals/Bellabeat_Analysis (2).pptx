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3657600" cy="3657600"/>
          </a:xfrm>
          <a:prstGeom prst="ellipse">
            <a:avLst/>
          </a:prstGeom>
          <a:solidFill>
            <a:srgbClr val="2D1B5A"/>
          </a:solidFill>
          <a:ln w="12700">
            <a:solidFill>
              <a:srgbClr val="2D1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2D1B5A"/>
          </a:solidFill>
          <a:ln w="12700">
            <a:solidFill>
              <a:srgbClr val="2D1B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914400"/>
            <a:ext cx="2286000" cy="2286000"/>
          </a:xfrm>
          <a:prstGeom prst="ellipse">
            <a:avLst/>
          </a:prstGeom>
          <a:solidFill>
            <a:srgbClr val="3D1F7A"/>
          </a:solidFill>
          <a:ln w="12700">
            <a:solidFill>
              <a:srgbClr val="3D1F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" cy="2011680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474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0" kern="0" dirty="0">
                <a:solidFill>
                  <a:srgbClr val="E8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7830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Device Analysis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005840" y="27432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Fitness Tracker Trends Can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Bellabeat's Marketing Strategy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4480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FitBit Dataset  ·  2016  ·  Junior Data Analyst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8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41148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0" y="411480"/>
            <a:ext cx="64008" cy="658368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5394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86200" y="5760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Task &amp; Background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64008" cy="658368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624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86200" y="13990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205740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057400"/>
            <a:ext cx="64008" cy="658368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1854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22219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Trends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288036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2880360"/>
            <a:ext cx="64008" cy="658368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00837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86200" y="30449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0" y="370332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703320"/>
            <a:ext cx="64008" cy="658368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8313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86200" y="38679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D1B5A"/>
          </a:solidFill>
          <a:ln w="12700">
            <a:solidFill>
              <a:srgbClr val="2D1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Task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2651760"/>
          </a:xfrm>
          <a:prstGeom prst="rect">
            <a:avLst/>
          </a:prstGeom>
          <a:solidFill>
            <a:srgbClr val="2A1650"/>
          </a:solidFill>
          <a:ln w="12700">
            <a:solidFill>
              <a:srgbClr val="3D207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27632"/>
            <a:ext cx="402336" cy="402336"/>
          </a:xfrm>
          <a:prstGeom prst="ellipse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772" y="1700052"/>
            <a:ext cx="257495" cy="2574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21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54203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smart device fitness data to discover how consumers use non-Bellabeat devices and uncover new growth opportunities.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508760"/>
            <a:ext cx="2651760" cy="2651760"/>
          </a:xfrm>
          <a:prstGeom prst="rect">
            <a:avLst/>
          </a:prstGeom>
          <a:solidFill>
            <a:srgbClr val="2A1650"/>
          </a:solidFill>
          <a:ln w="12700">
            <a:solidFill>
              <a:srgbClr val="3D207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1627632"/>
            <a:ext cx="402336" cy="402336"/>
          </a:xfrm>
          <a:prstGeom prst="ellipse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852" y="1700052"/>
            <a:ext cx="257495" cy="2574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121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254203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smart device trends? How do they apply to Bellabeat customers? How can they shape marketing strategy?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7920" y="1508760"/>
            <a:ext cx="2651760" cy="2651760"/>
          </a:xfrm>
          <a:prstGeom prst="rect">
            <a:avLst/>
          </a:prstGeom>
          <a:solidFill>
            <a:srgbClr val="2A1650"/>
          </a:solidFill>
          <a:ln w="12700">
            <a:solidFill>
              <a:srgbClr val="3D207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82512" y="1627632"/>
            <a:ext cx="402336" cy="402336"/>
          </a:xfrm>
          <a:prstGeom prst="ellipse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932" y="1700052"/>
            <a:ext cx="257495" cy="25749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121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55080" y="254203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Urška Sršen (CCO), Sando Mur (Co-founder), and the Bellabeat Marketing Analytics Team.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 — a tech-driven wellness company for women founded in 2013 — seeks to leverage data insights to inform its global marketing strategy.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34440"/>
            <a:ext cx="9144000" cy="54864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DATASET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FitBit Fitness Tracker Data  ·  CC0 Public Domain  ·  Kaggle / Mobius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74520" cy="100584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FitBit Users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874520" cy="100584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508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06040" y="2029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Year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1874520" cy="100584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508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2029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463040"/>
            <a:ext cx="1874520" cy="100584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508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03720" y="2029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Includes: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18104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04672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Steps &amp; Distance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118104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93792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 Burned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66744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4672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Duration &amp; Quality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66674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93792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Monitoring</a:t>
            </a:r>
            <a:endParaRPr lang="en-US" sz="12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1538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04672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Intensity Levels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215384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93792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Time Tracking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FFF5E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48640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Limitation: Small sample (30 users), 2016 data — findings should be validated with more current, larger datasets.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D1B5A"/>
          </a:solidFill>
          <a:ln w="12700">
            <a:solidFill>
              <a:srgbClr val="2D1B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&amp; Steps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5120640" cy="694944"/>
          </a:xfrm>
          <a:prstGeom prst="rect">
            <a:avLst/>
          </a:prstGeom>
          <a:solidFill>
            <a:srgbClr val="2A165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72768"/>
            <a:ext cx="64008" cy="694944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7393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1645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= Peak Activity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32688" y="19385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consistently shows the highest average steps (~8,200) — users are most active on weekends.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2377440"/>
            <a:ext cx="5120640" cy="694944"/>
          </a:xfrm>
          <a:prstGeom prst="rect">
            <a:avLst/>
          </a:prstGeom>
          <a:solidFill>
            <a:srgbClr val="2A165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377440"/>
            <a:ext cx="64008" cy="694944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57860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2688" y="24505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Goal Gap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32688" y="27432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fall below the recommended 10,000 steps/day. Average sits around 7,600 steps.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3182112"/>
            <a:ext cx="5120640" cy="694944"/>
          </a:xfrm>
          <a:prstGeom prst="rect">
            <a:avLst/>
          </a:prstGeom>
          <a:solidFill>
            <a:srgbClr val="2A165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5760" y="3182112"/>
            <a:ext cx="64008" cy="694944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832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2688" y="32552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Dominance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32688" y="35478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minutes make up the largest activity segment (~80%). Users sit for most of the day.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3986784"/>
            <a:ext cx="5120640" cy="694944"/>
          </a:xfrm>
          <a:prstGeom prst="rect">
            <a:avLst/>
          </a:prstGeom>
          <a:solidFill>
            <a:srgbClr val="2A165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65760" y="3986784"/>
            <a:ext cx="64008" cy="694944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18795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2688" y="40599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Peaks on Weekends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32688" y="43525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also peaks in calories burned — aligning with higher step counts and active minutes.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760720" y="8229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E8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6800" dirty="0"/>
          </a:p>
        </p:txBody>
      </p:sp>
      <p:sp>
        <p:nvSpPr>
          <p:cNvPr id="28" name="Text 22"/>
          <p:cNvSpPr/>
          <p:nvPr/>
        </p:nvSpPr>
        <p:spPr>
          <a:xfrm>
            <a:off x="5760720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daily time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sedentary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576072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by Day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852160" y="3112618"/>
            <a:ext cx="310896" cy="865022"/>
          </a:xfrm>
          <a:prstGeom prst="rect">
            <a:avLst/>
          </a:prstGeom>
          <a:solidFill>
            <a:srgbClr val="5A3F9A"/>
          </a:solidFill>
          <a:ln w="12700">
            <a:solidFill>
              <a:srgbClr val="5A3F9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852160" y="40050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00" dirty="0"/>
          </a:p>
        </p:txBody>
      </p:sp>
      <p:sp>
        <p:nvSpPr>
          <p:cNvPr id="32" name="Shape 26"/>
          <p:cNvSpPr/>
          <p:nvPr/>
        </p:nvSpPr>
        <p:spPr>
          <a:xfrm>
            <a:off x="6281928" y="3193085"/>
            <a:ext cx="310896" cy="784555"/>
          </a:xfrm>
          <a:prstGeom prst="rect">
            <a:avLst/>
          </a:prstGeom>
          <a:solidFill>
            <a:srgbClr val="5A3F9A"/>
          </a:solidFill>
          <a:ln w="12700">
            <a:solidFill>
              <a:srgbClr val="5A3F9A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281928" y="40050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00" dirty="0"/>
          </a:p>
        </p:txBody>
      </p:sp>
      <p:sp>
        <p:nvSpPr>
          <p:cNvPr id="34" name="Shape 28"/>
          <p:cNvSpPr/>
          <p:nvPr/>
        </p:nvSpPr>
        <p:spPr>
          <a:xfrm>
            <a:off x="6711696" y="3152851"/>
            <a:ext cx="310896" cy="824789"/>
          </a:xfrm>
          <a:prstGeom prst="rect">
            <a:avLst/>
          </a:prstGeom>
          <a:solidFill>
            <a:srgbClr val="5A3F9A"/>
          </a:solidFill>
          <a:ln w="12700">
            <a:solidFill>
              <a:srgbClr val="5A3F9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711696" y="40050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00" dirty="0"/>
          </a:p>
        </p:txBody>
      </p:sp>
      <p:sp>
        <p:nvSpPr>
          <p:cNvPr id="36" name="Shape 30"/>
          <p:cNvSpPr/>
          <p:nvPr/>
        </p:nvSpPr>
        <p:spPr>
          <a:xfrm>
            <a:off x="7141464" y="3092501"/>
            <a:ext cx="310896" cy="885139"/>
          </a:xfrm>
          <a:prstGeom prst="rect">
            <a:avLst/>
          </a:prstGeom>
          <a:solidFill>
            <a:srgbClr val="5A3F9A"/>
          </a:solidFill>
          <a:ln w="12700">
            <a:solidFill>
              <a:srgbClr val="5A3F9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141464" y="40050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00" dirty="0"/>
          </a:p>
        </p:txBody>
      </p:sp>
      <p:sp>
        <p:nvSpPr>
          <p:cNvPr id="38" name="Shape 32"/>
          <p:cNvSpPr/>
          <p:nvPr/>
        </p:nvSpPr>
        <p:spPr>
          <a:xfrm>
            <a:off x="7571232" y="3062326"/>
            <a:ext cx="310896" cy="915314"/>
          </a:xfrm>
          <a:prstGeom prst="rect">
            <a:avLst/>
          </a:prstGeom>
          <a:solidFill>
            <a:srgbClr val="5A3F9A"/>
          </a:solidFill>
          <a:ln w="12700">
            <a:solidFill>
              <a:srgbClr val="5A3F9A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571232" y="40050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00" dirty="0"/>
          </a:p>
        </p:txBody>
      </p:sp>
      <p:sp>
        <p:nvSpPr>
          <p:cNvPr id="40" name="Shape 34"/>
          <p:cNvSpPr/>
          <p:nvPr/>
        </p:nvSpPr>
        <p:spPr>
          <a:xfrm>
            <a:off x="8001000" y="3172968"/>
            <a:ext cx="310896" cy="804672"/>
          </a:xfrm>
          <a:prstGeom prst="rect">
            <a:avLst/>
          </a:prstGeom>
          <a:solidFill>
            <a:srgbClr val="5A3F9A"/>
          </a:solidFill>
          <a:ln w="12700">
            <a:solidFill>
              <a:srgbClr val="5A3F9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001000" y="40050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00" dirty="0"/>
          </a:p>
        </p:txBody>
      </p:sp>
      <p:sp>
        <p:nvSpPr>
          <p:cNvPr id="42" name="Shape 36"/>
          <p:cNvSpPr/>
          <p:nvPr/>
        </p:nvSpPr>
        <p:spPr>
          <a:xfrm>
            <a:off x="8430768" y="2971800"/>
            <a:ext cx="310896" cy="1005840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8430768" y="40050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Insights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" y="14703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 min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5760" y="2404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Sleep / Night (~7 hrs)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6576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Sleep Efficiency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5760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Sleep Efficiency Day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65760" y="4462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Efficiency Day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80560" y="411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4480560" y="987552"/>
            <a:ext cx="43891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0560" y="987552"/>
            <a:ext cx="54864" cy="676656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45152" y="104241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average ~7 hours of sleep — slightly below the recommended 8 hours.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480560" y="1792224"/>
            <a:ext cx="43891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80560" y="1792224"/>
            <a:ext cx="54864" cy="676656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45152" y="184708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efficiency is consistently high (91%), suggesting good sleep quality overall.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480560" y="2596896"/>
            <a:ext cx="43891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596896"/>
            <a:ext cx="54864" cy="676656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45152" y="26517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shows the highest efficiency; Sunday the lowest — weekend disruption pattern.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480560" y="3401568"/>
            <a:ext cx="43891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80560" y="3401568"/>
            <a:ext cx="54864" cy="676656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45152" y="345643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also has the longest sleep duration (~450 min), possibly recovering from week stress.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480560" y="4206240"/>
            <a:ext cx="43891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80560" y="4206240"/>
            <a:ext cx="54864" cy="676656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45152" y="42611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Bellabeat can promote sleep improvement features and bedtime nudges.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DASHBOARD  ·  Key Charts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292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FitBit Fitness Tracker Data  ·  2016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07899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78992"/>
            <a:ext cx="2743200" cy="54864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8" name="Image 0" descr="/home/claude/chart_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" y="1133856"/>
            <a:ext cx="2633472" cy="18105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27248" y="107899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27248" y="1078992"/>
            <a:ext cx="2743200" cy="54864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11" name="Image 1" descr="/home/claude/chart_calor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133856"/>
            <a:ext cx="2633472" cy="18105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80760" y="107899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080760" y="1078992"/>
            <a:ext cx="2743200" cy="54864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14" name="Image 2" descr="/home/claude/chart_active_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133856"/>
            <a:ext cx="2633472" cy="181051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82880" y="309067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82880" y="3090672"/>
            <a:ext cx="2743200" cy="54864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17" name="Image 3" descr="/home/claude/chart_sleep_du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3145536"/>
            <a:ext cx="2633472" cy="181051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127248" y="309067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127248" y="3090672"/>
            <a:ext cx="2743200" cy="54864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20" name="Image 4" descr="/home/claude/chart_activity_d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112" y="3145536"/>
            <a:ext cx="2633472" cy="181051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080760" y="309067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080760" y="3090672"/>
            <a:ext cx="2743200" cy="54864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23" name="Image 5" descr="/home/claude/chart_sleep_e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624" y="3145536"/>
            <a:ext cx="2633472" cy="1810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Steps vs Sedentary Time  ·  Correlation Analysis</a:t>
            </a:r>
            <a:endParaRPr lang="en-US" sz="2000" dirty="0"/>
          </a:p>
        </p:txBody>
      </p:sp>
      <p:pic>
        <p:nvPicPr>
          <p:cNvPr id="4" name="Image 0" descr="/home/claude/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12064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143000"/>
            <a:ext cx="3063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143000"/>
            <a:ext cx="64008" cy="822960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25312" y="1197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25312" y="14904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steps taken → fewer sedentary minutes. Users who walk more sit less.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60720" y="2075688"/>
            <a:ext cx="3063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075688"/>
            <a:ext cx="64008" cy="822960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25312" y="21305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at Low Steps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25312" y="2423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cluster near 0–5,000 steps with 1,000+ sedentary minutes — highly inactive segment.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60720" y="3008376"/>
            <a:ext cx="3063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3008376"/>
            <a:ext cx="64008" cy="822960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25312" y="30632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Exist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25312" y="33558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users take 20,000–30,000 steps yet still show moderate sedentary time.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60720" y="3941064"/>
            <a:ext cx="3063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941064"/>
            <a:ext cx="64008" cy="822960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25312" y="39959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Opportunity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25312" y="42885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large sedentary cluster with Bellabeat's activity nudge and coaching features.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5486400" cy="5486400"/>
          </a:xfrm>
          <a:prstGeom prst="ellipse">
            <a:avLst/>
          </a:prstGeom>
          <a:solidFill>
            <a:srgbClr val="2D1B5A"/>
          </a:solidFill>
          <a:ln w="12700">
            <a:solidFill>
              <a:srgbClr val="2D1B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321040" cy="777240"/>
          </a:xfrm>
          <a:prstGeom prst="rect">
            <a:avLst/>
          </a:prstGeom>
          <a:solidFill>
            <a:srgbClr val="2A165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53312"/>
            <a:ext cx="64008" cy="777240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536192"/>
            <a:ext cx="384048" cy="384048"/>
          </a:xfrm>
          <a:prstGeom prst="ellipse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529" y="1605321"/>
            <a:ext cx="245791" cy="2457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44752" y="14173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Nudge Notifications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44752" y="17556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smart reminders on low-activity days (Mon &amp; Sun) to boost steps toward 10K. Position Bellabeat's Leaf as the always-on wellness companion.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2240280"/>
            <a:ext cx="8321040" cy="777240"/>
          </a:xfrm>
          <a:prstGeom prst="rect">
            <a:avLst/>
          </a:prstGeom>
          <a:solidFill>
            <a:srgbClr val="2A165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240280"/>
            <a:ext cx="64008" cy="777240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14400" y="2423160"/>
            <a:ext cx="384048" cy="384048"/>
          </a:xfrm>
          <a:prstGeom prst="ellipse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529" y="2492289"/>
            <a:ext cx="245791" cy="2457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44752" y="23042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Coaching Feature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444752" y="264261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personalized bedtime insights via the app. Sunday sleep inefficiency signals a key targeting moment for sleep-focused campaigns.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65760" y="3127248"/>
            <a:ext cx="8321040" cy="777240"/>
          </a:xfrm>
          <a:prstGeom prst="rect">
            <a:avLst/>
          </a:prstGeom>
          <a:solidFill>
            <a:srgbClr val="2A165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65760" y="3127248"/>
            <a:ext cx="64008" cy="777240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914400" y="3310128"/>
            <a:ext cx="384048" cy="384048"/>
          </a:xfrm>
          <a:prstGeom prst="ellipse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529" y="3379257"/>
            <a:ext cx="245791" cy="24579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44752" y="319125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Warriors Campaign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444752" y="352958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Saturday peak activity in social campaigns. Showcase the Leaf and Time watch for active lifestyle users during peak weekends.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65760" y="4014216"/>
            <a:ext cx="8321040" cy="777240"/>
          </a:xfrm>
          <a:prstGeom prst="rect">
            <a:avLst/>
          </a:prstGeom>
          <a:solidFill>
            <a:srgbClr val="2A165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65760" y="4014216"/>
            <a:ext cx="64008" cy="777240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914400" y="4197096"/>
            <a:ext cx="384048" cy="384048"/>
          </a:xfrm>
          <a:prstGeom prst="ellipse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529" y="4266225"/>
            <a:ext cx="245791" cy="245791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444752" y="407822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+ Activity Tie-in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444752" y="4416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Spring bottle alongside activity data — users who walk more may benefit most from hydration reminders during workouts.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3D1F7A"/>
          </a:solidFill>
          <a:ln w="12700">
            <a:solidFill>
              <a:srgbClr val="3D1F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3D1F7A"/>
          </a:solidFill>
          <a:ln w="12700">
            <a:solidFill>
              <a:srgbClr val="3D1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8537A"/>
          </a:solidFill>
          <a:ln w="12700">
            <a:solidFill>
              <a:srgbClr val="E8537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36576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20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200" kern="0" dirty="0">
                <a:solidFill>
                  <a:srgbClr val="F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Women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Data-Driven Wellness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34930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453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FitBit Fitness Tracker Dataset (CC0)  ·  Kaggle / Mobius  ·  2016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Bellabeat Smart Device Analysis</dc:title>
  <dc:subject>PptxGenJS Presentation</dc:subject>
  <dc:creator>Data Analyst</dc:creator>
  <cp:lastModifiedBy>Data Analyst</cp:lastModifiedBy>
  <cp:revision>1</cp:revision>
  <dcterms:created xsi:type="dcterms:W3CDTF">2026-04-10T07:45:09Z</dcterms:created>
  <dcterms:modified xsi:type="dcterms:W3CDTF">2026-04-10T07:45:09Z</dcterms:modified>
</cp:coreProperties>
</file>