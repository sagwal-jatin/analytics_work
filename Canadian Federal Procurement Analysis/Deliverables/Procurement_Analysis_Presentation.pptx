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4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A44"/>
                </a:solidFill>
                <a:latin typeface="Arial"/>
              </a:rPr>
              <a:t>Procurement Strategy — Share of Total Contract Value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33A3A"/>
              </a:solidFill>
              <a:effectLst/>
            </c:spPr>
          </c:dPt>
          <c:dPt>
            <c:idx val="1"/>
            <c:bubble3D val="0"/>
            <c:spPr>
              <a:solidFill>
                <a:srgbClr val="3B6E8F"/>
              </a:solidFill>
              <a:effectLst/>
            </c:spPr>
          </c:dPt>
          <c:dPt>
            <c:idx val="2"/>
            <c:bubble3D val="0"/>
            <c:spPr>
              <a:solidFill>
                <a:srgbClr val="8FA6BE"/>
              </a:solidFill>
              <a:effectLst/>
            </c:spPr>
          </c:dPt>
          <c:dPt>
            <c:idx val="3"/>
            <c:bubble3D val="0"/>
            <c:spPr>
              <a:solidFill>
                <a:srgbClr val="D99A2B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Sole-Source / Non-Competitive</c:v>
                </c:pt>
                <c:pt idx="1">
                  <c:v>Standing Offer / Supply Arrangement</c:v>
                </c:pt>
                <c:pt idx="2">
                  <c:v>Other / Unspecified</c:v>
                </c:pt>
                <c:pt idx="3">
                  <c:v>Competitive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57.1</c:v>
                </c:pt>
                <c:pt idx="1">
                  <c:v>21.8</c:v>
                </c:pt>
                <c:pt idx="2">
                  <c:v>16.7</c:v>
                </c:pt>
                <c:pt idx="3">
                  <c:v>4.5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F2A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contract value ($B)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National Defence</c:v>
                  </c:pt>
                  <c:pt idx="1">
                    <c:v>Fisheries and Oceans Canada</c:v>
                  </c:pt>
                  <c:pt idx="2">
                    <c:v>Canadian Space Agency</c:v>
                  </c:pt>
                  <c:pt idx="3">
                    <c:v>Employment and Social Dev.</c:v>
                  </c:pt>
                  <c:pt idx="4">
                    <c:v>Housing, Infrastructure &amp; Comm.</c:v>
                  </c:pt>
                  <c:pt idx="5">
                    <c:v>Canada Revenue Agency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442.8</c:v>
                </c:pt>
                <c:pt idx="1">
                  <c:v>64.3</c:v>
                </c:pt>
                <c:pt idx="2">
                  <c:v>41.1</c:v>
                </c:pt>
                <c:pt idx="3">
                  <c:v>37.3</c:v>
                </c:pt>
                <c:pt idx="4">
                  <c:v>25.1</c:v>
                </c:pt>
                <c:pt idx="5">
                  <c:v>15.8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contract value ($B)</c:v>
                </c:pt>
              </c:strCache>
            </c:strRef>
          </c:tx>
          <c:spPr>
            <a:solidFill>
              <a:srgbClr val="B33A3A"/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3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Irving Shipbuilding</c:v>
                  </c:pt>
                  <c:pt idx="1">
                    <c:v>Vancouver Shipyards</c:v>
                  </c:pt>
                  <c:pt idx="2">
                    <c:v>SkyAlyne Canada LP</c:v>
                  </c:pt>
                  <c:pt idx="3">
                    <c:v>I.M.P Group</c:v>
                  </c:pt>
                  <c:pt idx="4">
                    <c:v>MDA Systems</c:v>
                  </c:pt>
                  <c:pt idx="5">
                    <c:v>Gen. Dynamics Land Sys.</c:v>
                  </c:pt>
                  <c:pt idx="6">
                    <c:v>L-3 Communications MAS</c:v>
                  </c:pt>
                  <c:pt idx="7">
                    <c:v>Lockheed Martin Canada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44.4</c:v>
                </c:pt>
                <c:pt idx="1">
                  <c:v>25.9</c:v>
                </c:pt>
                <c:pt idx="2">
                  <c:v>22.4</c:v>
                </c:pt>
                <c:pt idx="3">
                  <c:v>16.9</c:v>
                </c:pt>
                <c:pt idx="4">
                  <c:v>15.9</c:v>
                </c:pt>
                <c:pt idx="5">
                  <c:v>14.6</c:v>
                </c:pt>
                <c:pt idx="6">
                  <c:v>13.3</c:v>
                </c:pt>
                <c:pt idx="7">
                  <c:v>12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days</c:v>
                </c:pt>
              </c:strCache>
            </c:strRef>
          </c:tx>
          <c:spPr>
            <a:solidFill>
              <a:srgbClr val="3B6E8F"/>
            </a:solidFill>
            <a:effectLst/>
          </c:spPr>
          <c:invertIfNegative val="0"/>
          <c:dLbls>
            <c:numFmt formatCode="#,##0&quot; days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Immigration &amp; Refugee Board</c:v>
                  </c:pt>
                  <c:pt idx="1">
                    <c:v>Canadian Space Agency</c:v>
                  </c:pt>
                  <c:pt idx="2">
                    <c:v>Canadian Transportation Agency</c:v>
                  </c:pt>
                  <c:pt idx="3">
                    <c:v>Canadian Nuclear Safety Comm.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873</c:v>
                </c:pt>
                <c:pt idx="1">
                  <c:v>728</c:v>
                </c:pt>
                <c:pt idx="2">
                  <c:v>624</c:v>
                </c:pt>
                <c:pt idx="3">
                  <c:v>600</c:v>
                </c:pt>
              </c:numCache>
            </c:numRef>
          </c:val>
        </c:ser>
        <c:dLbls>
          <c:numFmt formatCode="#,##0&quot; days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exempt</c:v>
                </c:pt>
              </c:strCache>
            </c:strRef>
          </c:tx>
          <c:spPr>
            <a:solidFill>
              <a:srgbClr val="B33A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Parks Canada</c:v>
                  </c:pt>
                  <c:pt idx="1">
                    <c:v>Crown-Indigenous Relations</c:v>
                  </c:pt>
                  <c:pt idx="2">
                    <c:v>Canadian Heritage</c:v>
                  </c:pt>
                  <c:pt idx="3">
                    <c:v>Global Affairs Canada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94.4</c:v>
                </c:pt>
                <c:pt idx="1">
                  <c:v>78.8</c:v>
                </c:pt>
                <c:pt idx="2">
                  <c:v>78.8</c:v>
                </c:pt>
                <c:pt idx="3">
                  <c:v>59.5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A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vendor 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effectLst/>
            </c:spPr>
          </c:dPt>
          <c:dPt>
            <c:idx val="1"/>
            <c:bubble3D val="0"/>
            <c:spPr>
              <a:solidFill>
                <a:srgbClr val="3B6E8F"/>
              </a:solidFill>
              <a:effectLst/>
            </c:spPr>
          </c:dPt>
          <c:dPt>
            <c:idx val="2"/>
            <c:bubble3D val="0"/>
            <c:spPr>
              <a:solidFill>
                <a:srgbClr val="6D9BB5"/>
              </a:solidFill>
              <a:effectLst/>
            </c:spPr>
          </c:dPt>
          <c:dPt>
            <c:idx val="3"/>
            <c:bubble3D val="0"/>
            <c:spPr>
              <a:solidFill>
                <a:srgbClr val="B33A3A"/>
              </a:solidFill>
              <a:effectLst/>
            </c:spPr>
          </c:dPt>
          <c:dPt>
            <c:idx val="4"/>
            <c:bubble3D val="0"/>
            <c:spPr>
              <a:solidFill>
                <a:srgbClr val="8FA6BE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Ontario</c:v>
                </c:pt>
                <c:pt idx="1">
                  <c:v>British Columbia</c:v>
                </c:pt>
                <c:pt idx="2">
                  <c:v>Quebec</c:v>
                </c:pt>
                <c:pt idx="3">
                  <c:v>Nova Scotia</c:v>
                </c:pt>
                <c:pt idx="4">
                  <c:v>All other provinces/territories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45.15</c:v>
                </c:pt>
                <c:pt idx="1">
                  <c:v>21.57</c:v>
                </c:pt>
                <c:pt idx="2">
                  <c:v>15.94</c:v>
                </c:pt>
                <c:pt idx="3">
                  <c:v>9.83</c:v>
                </c:pt>
                <c:pt idx="4">
                  <c:v>7.51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33A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D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Competition, Vendor Concentration &amp; Spending Risk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analysis of $738 billion in Government of Canada contract spending, FY2015 – FY2026, built on the Open Government Portal proactive-disclosure dataset.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Sagwal</a:t>
            </a:r>
            <a:pPr indent="0" marL="0">
              <a:buNone/>
            </a:pPr>
            <a:r>
              <a:rPr lang="en-US" sz="1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Business Intelligence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$738B in federal spending actually go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who is watching how it's awarded?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31012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E4ECF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data is published, but no single tool shows competition levels, vendor concentration, or risk patterns across departments.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78808" y="2331720"/>
            <a:ext cx="331012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2606040"/>
            <a:ext cx="502920" cy="502920"/>
          </a:xfrm>
          <a:prstGeom prst="ellipse">
            <a:avLst/>
          </a:prstGeom>
          <a:solidFill>
            <a:srgbClr val="E4ECF3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53128" y="329184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discretion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3128" y="374904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Sole-sourced and standing-offer awards involve significant department-level judgment — and carry the highest fraud/inefficiency risk.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08976" y="2331720"/>
            <a:ext cx="3310128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3296" y="2606040"/>
            <a:ext cx="502920" cy="502920"/>
          </a:xfrm>
          <a:prstGeom prst="ellipse">
            <a:avLst/>
          </a:prstGeom>
          <a:solidFill>
            <a:srgbClr val="E4ECF3"/>
          </a:solidFill>
          <a:ln/>
        </p:spPr>
      </p:sp>
      <p:sp>
        <p:nvSpPr>
          <p:cNvPr id="16" name="Text 14"/>
          <p:cNvSpPr/>
          <p:nvPr/>
        </p:nvSpPr>
        <p:spPr>
          <a:xfrm>
            <a:off x="8083296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83296" y="3291840"/>
            <a:ext cx="276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oversight stakes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83296" y="3749040"/>
            <a:ext cx="27614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Auditors, MPs, journalists and taxpayers all need this picture — but today it requires manually wrangling a 300K+ row raw file.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1F2A4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7150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competitive and concentrated is federal procurement, and where are the highest-risk spending patterns?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three-stage analytics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 + RapidFuzz)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200+ raw vendor-name variants, parsed fiscal years (Apr–Mar), flagged competitive vs. sole-source awards.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95928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9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29535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(DuckDB)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34290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analytical queries for concentration (HHI), vendor rankings, and department-level KPIs against the cleaned dataset.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44968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25146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29535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34290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two-page interactive dashboard — an executive summary and an operational deep-dive — with a shared design system.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all federal contracts ≥ $10,000, all departments and agencies, FY2015 – FY2026 · Source: Open Government Portal — Proactive Publication of Contracts (Treasury Board of Canada Secretariat)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two-page dashboard built for two audiences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128016" cy="457200"/>
          </a:xfrm>
          <a:prstGeom prst="roundRect">
            <a:avLst>
              <a:gd name="adj" fmla="val 14286"/>
            </a:avLst>
          </a:prstGeom>
          <a:solidFill>
            <a:srgbClr val="3B6E8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65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Executive Summary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leadership, oversight sponsor, quick-read audience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980944"/>
            <a:ext cx="91440" cy="9144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8529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strategy breakdown by department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575304"/>
            <a:ext cx="91440" cy="9144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4472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 index (HHI)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169664"/>
            <a:ext cx="91440" cy="9144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0416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vendors by contract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764024"/>
            <a:ext cx="91440" cy="91440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6360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award-volume trend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3492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2011680"/>
            <a:ext cx="128016" cy="457200"/>
          </a:xfrm>
          <a:prstGeom prst="roundRect">
            <a:avLst>
              <a:gd name="adj" fmla="val 14286"/>
            </a:avLst>
          </a:prstGeom>
          <a:solidFill>
            <a:srgbClr val="B33A3A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965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Operational Efficiency &amp; Compliance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2468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audit staff, CFOs, analysts wanting the detail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980944"/>
            <a:ext cx="91440" cy="91440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28529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Trade-agreement coverage (exempt vs. covered)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3575304"/>
            <a:ext cx="91440" cy="91440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34472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Award-to-delivery efficiency by department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4169664"/>
            <a:ext cx="91440" cy="91440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25" name="Text 23"/>
          <p:cNvSpPr/>
          <p:nvPr/>
        </p:nvSpPr>
        <p:spPr>
          <a:xfrm>
            <a:off x="6876288" y="40416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vendor distribution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764024"/>
            <a:ext cx="91440" cy="91440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46360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toward the 5% Indigenous set-aside target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4.5% of contract value was openly competitive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94360" y="2971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federal contract value (FY2015–FY2026) was awarded sole-source / non-competitive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4114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$738.3B total contract value analyzed across all departments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0" y="173736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department accounts for 60% of all federal contract value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9202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1F2A44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2148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$442.8B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366760" y="2971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to National Defence alone — more than the next five departments combined.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66760" y="4251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66760" y="4572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Large-platform defence procurement (shipbuilding, aircraft) concentrates enormous discretionary spend in a single portfolio — making its competition practices disproportionately important to overall government risk.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concentration — and a data-cleaning catch worth flagging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8308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listed “Irving Shipbuilding Inc” and “Irving Shipbuilding Inc.” as two separate vendors.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55280" y="3246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standardized, Irving becomes the #1 vendor at $44.4B — not Vancouver Shipyards.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0" y="41605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vendor-name cleaning (Python + RapidFuzz) isn't a formality — an uncleaned dataset silently understates real vendor concentration.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department HHI: 757.6  (competitive) — but 5 departments exceed 2,500 (highly concentrated), incl. Canadian Space Agency and Housing, Infrastructure &amp; Communities.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 — OPERATIONAL EFFICIENCY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Indigenous procurement target is being missed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 wide margin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departments (65 of 71) fall below the federal government's mandatory 5% Indigenous set-aside target (PSIB).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2560320"/>
            <a:ext cx="0" cy="2743200"/>
          </a:xfrm>
          <a:prstGeom prst="line">
            <a:avLst/>
          </a:prstGeom>
          <a:noFill/>
          <a:ln w="19050">
            <a:solidFill>
              <a:srgbClr val="3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2514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0.28%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6080760" y="3657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government-wide, dollar-weighted average share of contract value going to Indigenous businesses — versus a 5% target.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performer: Elections Canada at 7.2% (exceeds target)  ·  Many large-spend departments sit well under 2%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 — OPERATIONAL EFFICIENCY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speed and trade-agreement coverage vary sharply by department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AWARD-TO-DELIVERY TIMES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3035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days are consistently lower than the average across departments — a small number of long-tail contracts (multi-year builds, R&amp;D) are skewing the mean upward.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737360"/>
            <a:ext cx="0" cy="429768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TRADE-AGREEMENT-EXEMPT SPEND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55080" y="2011680"/>
          <a:ext cx="53035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355080" y="4114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“Exempt” means the contract falls outside CFTA/CETA/etc. coverage — typically lower external competitive-bidding requirements. Ranked by exempt dollar value, not percentage, to filter out small-office noise.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06 — OPERATIONAL EFFICIENCY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location skews heavily toward shipbuilding hubs, not just Ottawa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82880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995160" y="2057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95160" y="242316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Scotia's 9.8% share is disproportionate to its population — driven almost entirely by Irving Shipbuilding's Halifax-based National Shipbuilding Strategy contracts.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95160" y="35204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Likewise, British Columbia's 21.6% is anchored by Vancouver Shipyards.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95160" y="43434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cross-references directly with the vendor-concentration finding (Slide 07) — a handful of mega-contracts, not broad regional policy, explain the geographic pattern.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can — and can't — claim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E4ECF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Unaudited, self-reported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Board Secretariat publishes this data as-is; it has not been independently audited for accuracy or completeness.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65960"/>
            <a:ext cx="411480" cy="411480"/>
          </a:xfrm>
          <a:prstGeom prst="ellipse">
            <a:avLst/>
          </a:prstGeom>
          <a:solidFill>
            <a:srgbClr val="E4ECF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changed over time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37744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competitive-bidding threshold has shifted across the FY2015–2026 window; this analysis applies current thresholds uniformly rather than the exact rule in force on each contract date.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411480" cy="411480"/>
          </a:xfrm>
          <a:prstGeom prst="ellipse">
            <a:avLst/>
          </a:prstGeom>
          <a:solidFill>
            <a:srgbClr val="E4ECF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“Sole-source” ≠ wrongdoing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452628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reasons for sole-sourcing exist (national security, IP lock-in, urgency). Findings describe patterns worth review, not proven fraud.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14800"/>
            <a:ext cx="411480" cy="411480"/>
          </a:xfrm>
          <a:prstGeom prst="ellipse">
            <a:avLst/>
          </a:prstGeom>
          <a:solidFill>
            <a:srgbClr val="E4ECF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40416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justification data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452628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has no access to the procurement file behind each award — only the disclosed summary record.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end-to-end with an analyst's toolkit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1F2A44"/>
          </a:solidFill>
          <a:ln/>
          <a:effectLst>
            <a:outerShdw sx="100000" sy="100000" kx="0" ky="0" algn="bl" rotWithShape="0" blurRad="101600" dist="38100" dir="5400000">
              <a:srgbClr val="1F2A44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40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RapidFuzz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entity resolution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1F2A44"/>
          </a:solidFill>
          <a:ln/>
          <a:effectLst>
            <a:outerShdw sx="100000" sy="100000" kx="0" ky="0" algn="bl" rotWithShape="0" blurRad="101600" dist="38100" dir="5400000">
              <a:srgbClr val="1F2A44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2240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93592" y="292608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analytical queries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1F2A44"/>
          </a:solidFill>
          <a:ln/>
          <a:effectLst>
            <a:outerShdw sx="100000" sy="100000" kx="0" ky="0" algn="bl" rotWithShape="0" blurRad="101600" dist="38100" dir="5400000">
              <a:srgbClr val="1F2A44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9944" y="2240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9944" y="292608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· Power Query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2-page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1F2A44"/>
          </a:solidFill>
          <a:ln/>
          <a:effectLst>
            <a:outerShdw sx="100000" sy="100000" kx="0" ky="0" algn="bl" rotWithShape="0" blurRad="101600" dist="38100" dir="5400000">
              <a:srgbClr val="1F2A44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296" y="2240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26296" y="292608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documentation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analytical techniques applied: fuzzy string matching for entity resolution · Herfindahl-Hirschman Index for market concentration · window-based anomaly screening · fiscal-year time series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Federal Procurement Analysis  |  Open Government Portal, FY2015–FY2026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D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$738B analyzed. 57% sole-sourced.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department, 60% of spend.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procurement data is public — but without analysis, its risk patterns stay invisible. This project turns a 300K+ row disclosure file into a decision-ready view of where competition, concentration, and equity targets need attention.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7772400" cy="0"/>
          </a:xfrm>
          <a:prstGeom prst="line">
            <a:avLst/>
          </a:prstGeom>
          <a:noFill/>
          <a:ln w="12700">
            <a:solidFill>
              <a:srgbClr val="3A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74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 Sagwal</a:t>
            </a:r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 · [LinkedIn] · [GitHub]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2026-07-22T02:56:29Z</dcterms:created>
  <dcterms:modified xsi:type="dcterms:W3CDTF">2026-07-22T02:56:29Z</dcterms:modified>
</cp:coreProperties>
</file>