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Optimistic</c:v>
                </c:pt>
              </c:strCache>
            </c:strRef>
          </c:tx>
          <c:spPr>
            <a:solidFill>
              <a:srgbClr val="1E8E5A"/>
            </a:solidFill>
            <a:ln w="31750" cap="flat">
              <a:solidFill>
                <a:srgbClr val="1E8E5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E8E5A"/>
              </a:solidFill>
              <a:ln w="9525" cap="flat">
                <a:solidFill>
                  <a:srgbClr val="1E8E5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0</c:v>
                  </c:pt>
                  <c:pt idx="1">
                    <c:v>2</c:v>
                  </c:pt>
                  <c:pt idx="2">
                    <c:v>4</c:v>
                  </c:pt>
                  <c:pt idx="3">
                    <c:v>6</c:v>
                  </c:pt>
                  <c:pt idx="4">
                    <c:v>8</c:v>
                  </c:pt>
                  <c:pt idx="5">
                    <c:v>10</c:v>
                  </c:pt>
                  <c:pt idx="6">
                    <c:v>12</c:v>
                  </c:pt>
                  <c:pt idx="7">
                    <c:v>14</c:v>
                  </c:pt>
                  <c:pt idx="8">
                    <c:v>16</c:v>
                  </c:pt>
                  <c:pt idx="9">
                    <c:v>18</c:v>
                  </c:pt>
                  <c:pt idx="10">
                    <c:v>20</c:v>
                  </c:pt>
                  <c:pt idx="11">
                    <c:v>22</c:v>
                  </c:pt>
                  <c:pt idx="12">
                    <c:v>24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5</c:v>
                </c:pt>
                <c:pt idx="1">
                  <c:v>5.3</c:v>
                </c:pt>
                <c:pt idx="2">
                  <c:v>5.7</c:v>
                </c:pt>
                <c:pt idx="3">
                  <c:v>6.1</c:v>
                </c:pt>
                <c:pt idx="4">
                  <c:v>6.5</c:v>
                </c:pt>
                <c:pt idx="5">
                  <c:v>6.9</c:v>
                </c:pt>
                <c:pt idx="6">
                  <c:v>7.4</c:v>
                </c:pt>
                <c:pt idx="7">
                  <c:v>7.9</c:v>
                </c:pt>
                <c:pt idx="8">
                  <c:v>8.4</c:v>
                </c:pt>
                <c:pt idx="9">
                  <c:v>9.1</c:v>
                </c:pt>
                <c:pt idx="10">
                  <c:v>9.7</c:v>
                </c:pt>
                <c:pt idx="11">
                  <c:v>10.4</c:v>
                </c:pt>
                <c:pt idx="12">
                  <c:v>11.1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rgbClr val="1E2761"/>
            </a:solidFill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0</c:v>
                  </c:pt>
                  <c:pt idx="1">
                    <c:v>2</c:v>
                  </c:pt>
                  <c:pt idx="2">
                    <c:v>4</c:v>
                  </c:pt>
                  <c:pt idx="3">
                    <c:v>6</c:v>
                  </c:pt>
                  <c:pt idx="4">
                    <c:v>8</c:v>
                  </c:pt>
                  <c:pt idx="5">
                    <c:v>10</c:v>
                  </c:pt>
                  <c:pt idx="6">
                    <c:v>12</c:v>
                  </c:pt>
                  <c:pt idx="7">
                    <c:v>14</c:v>
                  </c:pt>
                  <c:pt idx="8">
                    <c:v>16</c:v>
                  </c:pt>
                  <c:pt idx="9">
                    <c:v>18</c:v>
                  </c:pt>
                  <c:pt idx="10">
                    <c:v>20</c:v>
                  </c:pt>
                  <c:pt idx="11">
                    <c:v>22</c:v>
                  </c:pt>
                  <c:pt idx="12">
                    <c:v>24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5</c:v>
                </c:pt>
                <c:pt idx="1">
                  <c:v>5.3</c:v>
                </c:pt>
                <c:pt idx="2">
                  <c:v>5.5</c:v>
                </c:pt>
                <c:pt idx="3">
                  <c:v>5.8</c:v>
                </c:pt>
                <c:pt idx="4">
                  <c:v>6.1</c:v>
                </c:pt>
                <c:pt idx="5">
                  <c:v>6.4</c:v>
                </c:pt>
                <c:pt idx="6">
                  <c:v>6.7</c:v>
                </c:pt>
                <c:pt idx="7">
                  <c:v>7.1</c:v>
                </c:pt>
                <c:pt idx="8">
                  <c:v>7.4</c:v>
                </c:pt>
                <c:pt idx="9">
                  <c:v>7.9</c:v>
                </c:pt>
                <c:pt idx="10">
                  <c:v>8.3</c:v>
                </c:pt>
                <c:pt idx="11">
                  <c:v>8.8</c:v>
                </c:pt>
                <c:pt idx="12">
                  <c:v>9.2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Conservative</c:v>
                </c:pt>
              </c:strCache>
            </c:strRef>
          </c:tx>
          <c:spPr>
            <a:solidFill>
              <a:srgbClr val="C77700"/>
            </a:solidFill>
            <a:ln w="31750" cap="flat">
              <a:solidFill>
                <a:srgbClr val="C777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C77700"/>
              </a:solidFill>
              <a:ln w="9525" cap="flat">
                <a:solidFill>
                  <a:srgbClr val="C777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0</c:v>
                  </c:pt>
                  <c:pt idx="1">
                    <c:v>2</c:v>
                  </c:pt>
                  <c:pt idx="2">
                    <c:v>4</c:v>
                  </c:pt>
                  <c:pt idx="3">
                    <c:v>6</c:v>
                  </c:pt>
                  <c:pt idx="4">
                    <c:v>8</c:v>
                  </c:pt>
                  <c:pt idx="5">
                    <c:v>10</c:v>
                  </c:pt>
                  <c:pt idx="6">
                    <c:v>12</c:v>
                  </c:pt>
                  <c:pt idx="7">
                    <c:v>14</c:v>
                  </c:pt>
                  <c:pt idx="8">
                    <c:v>16</c:v>
                  </c:pt>
                  <c:pt idx="9">
                    <c:v>18</c:v>
                  </c:pt>
                  <c:pt idx="10">
                    <c:v>20</c:v>
                  </c:pt>
                  <c:pt idx="11">
                    <c:v>22</c:v>
                  </c:pt>
                  <c:pt idx="12">
                    <c:v>24</c:v>
                  </c:pt>
                </c:lvl>
              </c:multiLvlStrCache>
            </c:multiLvl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5</c:v>
                </c:pt>
                <c:pt idx="1">
                  <c:v>5.2</c:v>
                </c:pt>
                <c:pt idx="2">
                  <c:v>5.4</c:v>
                </c:pt>
                <c:pt idx="3">
                  <c:v>5.6</c:v>
                </c:pt>
                <c:pt idx="4">
                  <c:v>5.8</c:v>
                </c:pt>
                <c:pt idx="5">
                  <c:v>6</c:v>
                </c:pt>
                <c:pt idx="6">
                  <c:v>6.2</c:v>
                </c:pt>
                <c:pt idx="7">
                  <c:v>6.4</c:v>
                </c:pt>
                <c:pt idx="8">
                  <c:v>6.6</c:v>
                </c:pt>
                <c:pt idx="9">
                  <c:v>6.9</c:v>
                </c:pt>
                <c:pt idx="10">
                  <c:v>7.1</c:v>
                </c:pt>
                <c:pt idx="11">
                  <c:v>7.4</c:v>
                </c:pt>
                <c:pt idx="12">
                  <c:v>7.6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Months Since Phase 1 Launch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DEFF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% of At-Risk Population Adopted</a:t>
                </a:r>
              </a:p>
            </c:rich>
          </c:tx>
          <c:layout/>
          <c:overlay val="0"/>
        </c:title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1A2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2E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1A2E"/>
                </a:solidFill>
                <a:latin typeface="Arial"/>
              </a:rPr>
              <a:t>Revenue at Risk by Bank ($M, Base Case)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at Risk ($M)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TD</c:v>
                  </c:pt>
                  <c:pt idx="1">
                    <c:v>RBC</c:v>
                  </c:pt>
                  <c:pt idx="2">
                    <c:v>Scotiabank</c:v>
                  </c:pt>
                  <c:pt idx="3">
                    <c:v>BMO</c:v>
                  </c:pt>
                  <c:pt idx="4">
                    <c:v>CIBC</c:v>
                  </c:pt>
                  <c:pt idx="5">
                    <c:v>National Bank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639.2</c:v>
                </c:pt>
                <c:pt idx="1">
                  <c:v>600.7</c:v>
                </c:pt>
                <c:pt idx="2">
                  <c:v>414.8</c:v>
                </c:pt>
                <c:pt idx="3">
                  <c:v>378.9</c:v>
                </c:pt>
                <c:pt idx="4">
                  <c:v>370.7</c:v>
                </c:pt>
                <c:pt idx="5">
                  <c:v>132.7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8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2E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1A2E"/>
                </a:solidFill>
                <a:latin typeface="Arial"/>
              </a:rPr>
              <a:t>By Product Line (Aggregate)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By Product Line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8102E"/>
              </a:solidFill>
              <a:effectLst/>
            </c:spPr>
          </c:dPt>
          <c:dPt>
            <c:idx val="1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bubble3D val="0"/>
            <c:spPr>
              <a:solidFill>
                <a:srgbClr val="CADCF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Payments</c:v>
                </c:pt>
                <c:pt idx="1">
                  <c:v>Deposits/Account Fees</c:v>
                </c:pt>
                <c:pt idx="2">
                  <c:v>Lending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1480.5</c:v>
                </c:pt>
                <c:pt idx="1">
                  <c:v>681.4</c:v>
                </c:pt>
                <c:pt idx="2">
                  <c:v>375.1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A1A2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TD</c:v>
                </c:pt>
              </c:strCache>
            </c:strRef>
          </c:tx>
          <c:spPr>
            <a:solidFill>
              <a:srgbClr val="1E2761"/>
            </a:solidFill>
            <a:ln>
              <a:noFill/>
            </a:ln>
            <a:effectLst/>
          </c:spPr>
          <c:marker>
            <c:symbol val="circle"/>
            <c:size val="12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xVal>
            <c:numRef>
              <c:f>Sheet1!$A$2:$A$2</c:f>
              <c:numCache>
                <c:formatCode>General</c:formatCode>
                <c:ptCount val="1"/>
                <c:pt idx="0">
                  <c:v>4.85</c:v>
                </c:pt>
              </c:numCache>
            </c:numRef>
          </c:xVal>
          <c:yVal>
            <c:numRef>
              <c:f>Sheet1!$B$2:$B$2</c:f>
              <c:numCache>
                <c:formatCode>General</c:formatCode>
                <c:ptCount val="1"/>
                <c:pt idx="0">
                  <c:v>5.15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BMO</c:v>
                </c:pt>
              </c:strCache>
            </c:strRef>
          </c:tx>
          <c:spPr>
            <a:solidFill>
              <a:srgbClr val="C8102E"/>
            </a:solidFill>
            <a:ln>
              <a:noFill/>
            </a:ln>
            <a:effectLst/>
          </c:spPr>
          <c:marker>
            <c:symbol val="circle"/>
            <c:size val="12"/>
            <c:spPr>
              <a:solidFill>
                <a:srgbClr val="C8102E"/>
              </a:solidFill>
              <a:ln w="9525" cap="flat">
                <a:solidFill>
                  <a:srgbClr val="C8102E"/>
                </a:solidFill>
                <a:prstDash val="solid"/>
                <a:round/>
              </a:ln>
              <a:effectLst/>
            </c:spPr>
          </c:marker>
          <c:xVal>
            <c:numRef>
              <c:f>Sheet1!$A$2:$A$2</c:f>
              <c:numCache>
                <c:formatCode>General</c:formatCode>
                <c:ptCount val="1"/>
                <c:pt idx="0">
                  <c:v>4.85</c:v>
                </c:pt>
              </c:numCache>
            </c:numRef>
          </c:xVal>
          <c:yVal>
            <c:numRef>
              <c:f>Sheet1!$C$2:$C$2</c:f>
              <c:numCache>
                <c:formatCode>General</c:formatCode>
                <c:ptCount val="1"/>
                <c:pt idx="0">
                  <c:v>5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Scotiabank</c:v>
                </c:pt>
              </c:strCache>
            </c:strRef>
          </c:tx>
          <c:spPr>
            <a:solidFill>
              <a:srgbClr val="1E8E5A"/>
            </a:solidFill>
            <a:ln>
              <a:noFill/>
            </a:ln>
            <a:effectLst/>
          </c:spPr>
          <c:marker>
            <c:symbol val="circle"/>
            <c:size val="12"/>
            <c:spPr>
              <a:solidFill>
                <a:srgbClr val="1E8E5A"/>
              </a:solidFill>
              <a:ln w="9525" cap="flat">
                <a:solidFill>
                  <a:srgbClr val="1E8E5A"/>
                </a:solidFill>
                <a:prstDash val="solid"/>
                <a:round/>
              </a:ln>
              <a:effectLst/>
            </c:spPr>
          </c:marker>
          <c:xVal>
            <c:numRef>
              <c:f>Sheet1!$A$2:$A$2</c:f>
              <c:numCache>
                <c:formatCode>General</c:formatCode>
                <c:ptCount val="1"/>
                <c:pt idx="0">
                  <c:v>4.85</c:v>
                </c:pt>
              </c:numCache>
            </c:numRef>
          </c:xVal>
          <c:yVal>
            <c:numRef>
              <c:f>Sheet1!$D$2:$D$2</c:f>
              <c:numCache>
                <c:formatCode>General</c:formatCode>
                <c:ptCount val="1"/>
                <c:pt idx="0">
                  <c:v>3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National Bank</c:v>
                </c:pt>
              </c:strCache>
            </c:strRef>
          </c:tx>
          <c:spPr>
            <a:solidFill>
              <a:srgbClr val="C77700"/>
            </a:solidFill>
            <a:ln>
              <a:noFill/>
            </a:ln>
            <a:effectLst/>
          </c:spPr>
          <c:marker>
            <c:symbol val="circle"/>
            <c:size val="12"/>
            <c:spPr>
              <a:solidFill>
                <a:srgbClr val="C77700"/>
              </a:solidFill>
              <a:ln w="9525" cap="flat">
                <a:solidFill>
                  <a:srgbClr val="C77700"/>
                </a:solidFill>
                <a:prstDash val="solid"/>
                <a:round/>
              </a:ln>
              <a:effectLst/>
            </c:spPr>
          </c:marker>
          <c:xVal>
            <c:numRef>
              <c:f>Sheet1!$A$2:$A$2</c:f>
              <c:numCache>
                <c:formatCode>General</c:formatCode>
                <c:ptCount val="1"/>
                <c:pt idx="0">
                  <c:v>4.85</c:v>
                </c:pt>
              </c:numCache>
            </c:numRef>
          </c:xVal>
          <c:yVal>
            <c:numRef>
              <c:f>Sheet1!$E$2:$E$2</c:f>
              <c:numCache>
                <c:formatCode>General</c:formatCode>
                <c:ptCount val="1"/>
                <c:pt idx="0">
                  <c:v>3</c:v>
                </c:pt>
              </c:numCache>
            </c:numRef>
          </c:y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CIBC</c:v>
                </c:pt>
              </c:strCache>
            </c:strRef>
          </c:tx>
          <c:spPr>
            <a:solidFill>
              <a:srgbClr val="7A5FD6"/>
            </a:solidFill>
            <a:ln>
              <a:noFill/>
            </a:ln>
            <a:effectLst/>
          </c:spPr>
          <c:marker>
            <c:symbol val="circle"/>
            <c:size val="12"/>
            <c:spPr>
              <a:solidFill>
                <a:srgbClr val="7A5FD6"/>
              </a:solidFill>
              <a:ln w="9525" cap="flat">
                <a:solidFill>
                  <a:srgbClr val="7A5FD6"/>
                </a:solidFill>
                <a:prstDash val="solid"/>
                <a:round/>
              </a:ln>
              <a:effectLst/>
            </c:spPr>
          </c:marker>
          <c:xVal>
            <c:numRef>
              <c:f>Sheet1!$A$2:$A$2</c:f>
              <c:numCache>
                <c:formatCode>General</c:formatCode>
                <c:ptCount val="1"/>
                <c:pt idx="0">
                  <c:v>4.85</c:v>
                </c:pt>
              </c:numCache>
            </c:numRef>
          </c:xVal>
          <c:yVal>
            <c:numRef>
              <c:f>Sheet1!$F$2:$F$2</c:f>
              <c:numCache>
                <c:formatCode>General</c:formatCode>
                <c:ptCount val="1"/>
                <c:pt idx="0">
                  <c:v>2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6"/>
          <c:min val="0"/>
        </c:scaling>
        <c:delete val="0"/>
        <c:axPos val="b"/>
        <c:majorGridlines>
          <c:spPr>
            <a:ln w="12700" cap="flat">
              <a:solidFill>
                <a:srgbClr val="EDEFF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Digital / Fintech Exposure  (1=Low, 5=High)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6"/>
          <c:min val="0"/>
        </c:scaling>
        <c:delete val="0"/>
        <c:axPos val="l"/>
        <c:majorGridlines>
          <c:spPr>
            <a:ln w="12700" cap="flat">
              <a:solidFill>
                <a:srgbClr val="EDEFF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Public Commitment Level  (1=Low, 5=High)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1A1A2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0" cy="6858000"/>
          </a:xfrm>
          <a:prstGeom prst="rect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10908792" y="0"/>
            <a:ext cx="1280160" cy="6858000"/>
          </a:xfrm>
          <a:prstGeom prst="rect">
            <a:avLst/>
          </a:prstGeom>
          <a:solidFill>
            <a:srgbClr val="141B47"/>
          </a:solidFill>
          <a:ln/>
        </p:spPr>
      </p:sp>
      <p:sp>
        <p:nvSpPr>
          <p:cNvPr id="4" name="Shape 2"/>
          <p:cNvSpPr/>
          <p:nvPr/>
        </p:nvSpPr>
        <p:spPr>
          <a:xfrm>
            <a:off x="8897112" y="548640"/>
            <a:ext cx="2377440" cy="2377440"/>
          </a:xfrm>
          <a:prstGeom prst="ellipse">
            <a:avLst/>
          </a:prstGeom>
          <a:solidFill>
            <a:srgbClr val="C8102E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731520" y="4206240"/>
            <a:ext cx="2926080" cy="2926080"/>
          </a:xfrm>
          <a:prstGeom prst="ellipse">
            <a:avLst/>
          </a:prstGeom>
          <a:solidFill>
            <a:srgbClr val="C8102E">
              <a:alpha val="12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&amp; INNOVATION  |  PORTFOLIO ANALYSIS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17320" y="1874520"/>
            <a:ext cx="9326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Banking in Canada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1417320" y="2788920"/>
            <a:ext cx="9326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 or Opportunity </a:t>
            </a:r>
            <a:pPr algn="l" indent="0" marL="0">
              <a:buNone/>
            </a:pPr>
            <a:r>
              <a:rPr lang="en-US" sz="30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the Big Six?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463040" y="370332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forecast of Canada's Consumer-Driven Banking Act rollout, benchmarked against the UK, US, and Australia, with a bank-by-bank revenue-at-risk model.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463040" y="4617720"/>
            <a:ext cx="2743200" cy="0"/>
          </a:xfrm>
          <a:prstGeom prst="line">
            <a:avLst/>
          </a:prstGeom>
          <a:noFill/>
          <a:ln w="31750">
            <a:solidFill>
              <a:srgbClr val="C810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4800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Jatin Sagwal  |  Business Analyst  |  July 2026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63040" y="6263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A7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project — mock engagement for demonstration purposes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Canada's open banking law is live. The Big Six need a position now.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Consumer-Driven Banking Act received Royal Assent in March 2026. Nine million Canadians already share bank credentials with third-party apps through unregulated screen scraping — the exact behavior the Act is designed to replace with secure, regulated data sharing.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1A2E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606040"/>
            <a:ext cx="73152" cy="1965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92608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9.0M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822960" y="374904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Canadians already sharing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via screen scraping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26060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1A2E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89120" y="2606040"/>
            <a:ext cx="73152" cy="196596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292608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$2,537M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4663440" y="374904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Big Six revenue at risk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(base case, 24-month forecast)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26060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1A2E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0" y="2606040"/>
            <a:ext cx="73152" cy="1965960"/>
          </a:xfrm>
          <a:prstGeom prst="rect">
            <a:avLst/>
          </a:prstGeom>
          <a:solidFill>
            <a:srgbClr val="1E8E5A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292608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8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 / 2027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8503920" y="374904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(read access) and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(payments) target windows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89204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07492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bottom line: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Canada's mandated open-banking regime is expected to track closer to the UK's adoption curve than the US's market-led one. Banks that move now — through defensive platforms, fintech partnerships, or in-house embedded finance — will control the terms of that transition. Banks that wait will have the terms set for them.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Banking in Canada — Strategic Analysis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902952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TRIGGER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Canada's regulatory clock has started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Consumer-Driven Banking Act (Bill C-15) establishes Canada's first open banking framework, in three stages.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280160" y="3383280"/>
            <a:ext cx="9601200" cy="0"/>
          </a:xfrm>
          <a:prstGeom prst="line">
            <a:avLst/>
          </a:prstGeom>
          <a:noFill/>
          <a:ln w="38100">
            <a:solidFill>
              <a:srgbClr val="D8DC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9576" y="3282696"/>
            <a:ext cx="201168" cy="201168"/>
          </a:xfrm>
          <a:prstGeom prst="ellipse">
            <a:avLst/>
          </a:prstGeom>
          <a:solidFill>
            <a:srgbClr val="1E8E5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783080"/>
            <a:ext cx="3017520" cy="1371600"/>
          </a:xfrm>
          <a:prstGeom prst="roundRect">
            <a:avLst>
              <a:gd name="adj" fmla="val 5333"/>
            </a:avLst>
          </a:prstGeom>
          <a:solidFill>
            <a:srgbClr val="F7F8FC"/>
          </a:solidFill>
          <a:ln w="12700">
            <a:solidFill>
              <a:srgbClr val="E5E8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745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212140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Royal Assent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24688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26, 2026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76148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Consumer-Driven Banking Act formally established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80176" y="3282696"/>
            <a:ext cx="201168" cy="201168"/>
          </a:xfrm>
          <a:prstGeom prst="ellipse">
            <a:avLst/>
          </a:prstGeom>
          <a:solidFill>
            <a:srgbClr val="C777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1783080"/>
            <a:ext cx="3017520" cy="1371600"/>
          </a:xfrm>
          <a:prstGeom prst="roundRect">
            <a:avLst>
              <a:gd name="adj" fmla="val 5333"/>
            </a:avLst>
          </a:prstGeom>
          <a:solidFill>
            <a:srgbClr val="F7F8FC"/>
          </a:solidFill>
          <a:ln w="12700">
            <a:solidFill>
              <a:srgbClr val="E5E8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8745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7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54880" y="212140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— Read Access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754880" y="24688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(exact date TBC)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276148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of Canada has not committed to a launch date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0780776" y="3282696"/>
            <a:ext cx="201168" cy="201168"/>
          </a:xfrm>
          <a:prstGeom prst="ellipse">
            <a:avLst/>
          </a:prstGeom>
          <a:solidFill>
            <a:srgbClr val="C8102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22792" y="1783080"/>
            <a:ext cx="3017520" cy="1371600"/>
          </a:xfrm>
          <a:prstGeom prst="roundRect">
            <a:avLst>
              <a:gd name="adj" fmla="val 5333"/>
            </a:avLst>
          </a:prstGeom>
          <a:solidFill>
            <a:srgbClr val="F7F8FC"/>
          </a:solidFill>
          <a:ln w="12700">
            <a:solidFill>
              <a:srgbClr val="E5E8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05672" y="18745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805672" y="212140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— Write / Payments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805672" y="24688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Mid-2027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805672" y="276148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Contingent on Real-Time Rail reaching wide adoption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521208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321808"/>
            <a:ext cx="3139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9M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22960" y="5687568"/>
            <a:ext cx="313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Canadians using unregulated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scraping today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11040" y="5321808"/>
            <a:ext cx="3139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$1.1–3.8B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4511040" y="5687568"/>
            <a:ext cx="313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annual consumer savings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(Competition Bureau, insurance-sector analogy)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236720" y="5321808"/>
            <a:ext cx="0" cy="685800"/>
          </a:xfrm>
          <a:prstGeom prst="line">
            <a:avLst/>
          </a:prstGeom>
          <a:noFill/>
          <a:ln w="12700">
            <a:solidFill>
              <a:srgbClr val="3A43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99120" y="5321808"/>
            <a:ext cx="3139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$19.3M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8199120" y="5687568"/>
            <a:ext cx="313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of Canada implementation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over 2 years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924800" y="5321808"/>
            <a:ext cx="0" cy="685800"/>
          </a:xfrm>
          <a:prstGeom prst="line">
            <a:avLst/>
          </a:prstGeom>
          <a:noFill/>
          <a:ln w="12700">
            <a:solidFill>
              <a:srgbClr val="3A43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Banking in Canada — Strategic Analysis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902952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PRECEDENT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regulatory models. Canada is closest to the UK's.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 that mandate open banking (UK) adopt differently than markets that let it emerge voluntarily (US). Canada's model is mandated — like the UK's.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2697480" cy="352044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A1A2E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237744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1E8E5A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3774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49808" y="2743200"/>
            <a:ext cx="2295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UK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49808" y="3291840"/>
            <a:ext cx="22951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16.5M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49808" y="3685032"/>
            <a:ext cx="2295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user connections (2025)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49808" y="4114800"/>
            <a:ext cx="2295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2.0B+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49808" y="4480560"/>
            <a:ext cx="2295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calls in a single month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49808" y="4910328"/>
            <a:ext cx="2295144" cy="0"/>
          </a:xfrm>
          <a:prstGeom prst="line">
            <a:avLst/>
          </a:prstGeom>
          <a:noFill/>
          <a:ln w="12700">
            <a:solidFill>
              <a:srgbClr val="E5E8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4983480"/>
            <a:ext cx="22951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Launched 2018. Closest structural comparator for Canada's mandated regime.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0" y="2148840"/>
            <a:ext cx="2697480" cy="352044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A1A2E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75888" y="237744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1E8E5A"/>
          </a:solidFill>
          <a:ln/>
        </p:spPr>
      </p:sp>
      <p:sp>
        <p:nvSpPr>
          <p:cNvPr id="18" name="Text 16"/>
          <p:cNvSpPr/>
          <p:nvPr/>
        </p:nvSpPr>
        <p:spPr>
          <a:xfrm>
            <a:off x="3675888" y="23774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675888" y="2743200"/>
            <a:ext cx="2295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Australia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675888" y="3291840"/>
            <a:ext cx="22951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Growing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675888" y="3685032"/>
            <a:ext cx="2295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active authorisations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75888" y="4114800"/>
            <a:ext cx="2295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97%+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675888" y="4480560"/>
            <a:ext cx="2295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API availability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75888" y="4910328"/>
            <a:ext cx="2295144" cy="0"/>
          </a:xfrm>
          <a:prstGeom prst="line">
            <a:avLst/>
          </a:prstGeom>
          <a:noFill/>
          <a:ln w="12700">
            <a:solidFill>
              <a:srgbClr val="E5E8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75888" y="4983480"/>
            <a:ext cx="22951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Concentrated "Big Four" bank market — closest structural comparator to Canada's Big Six.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400800" y="2148840"/>
            <a:ext cx="2697480" cy="352044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A1A2E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601968" y="237744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C77700"/>
          </a:solidFill>
          <a:ln/>
        </p:spPr>
      </p:sp>
      <p:sp>
        <p:nvSpPr>
          <p:cNvPr id="28" name="Text 26"/>
          <p:cNvSpPr/>
          <p:nvPr/>
        </p:nvSpPr>
        <p:spPr>
          <a:xfrm>
            <a:off x="6601968" y="23774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MARKET-LED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601968" y="2743200"/>
            <a:ext cx="2295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United States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601968" y="3291840"/>
            <a:ext cx="22951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114M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6601968" y="3685032"/>
            <a:ext cx="2295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FDX customer API connections (Apr 2025)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601968" y="4114800"/>
            <a:ext cx="2295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52%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601968" y="4480560"/>
            <a:ext cx="2295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adoption rate (2025)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601968" y="4910328"/>
            <a:ext cx="2295144" cy="0"/>
          </a:xfrm>
          <a:prstGeom prst="line">
            <a:avLst/>
          </a:prstGeom>
          <a:noFill/>
          <a:ln w="12700">
            <a:solidFill>
              <a:srgbClr val="E5E8F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01968" y="4983480"/>
            <a:ext cx="22951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government mandate — standards adopted voluntarily via FDX. Slower, more fragmented uptake.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9326880" y="2148840"/>
            <a:ext cx="2697480" cy="3520440"/>
          </a:xfrm>
          <a:prstGeom prst="roundRect">
            <a:avLst>
              <a:gd name="adj" fmla="val 271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25400" dir="5400000">
              <a:srgbClr val="1A1A2E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9528048" y="237744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/>
        </p:spPr>
      </p:sp>
      <p:sp>
        <p:nvSpPr>
          <p:cNvPr id="38" name="Text 36"/>
          <p:cNvSpPr/>
          <p:nvPr/>
        </p:nvSpPr>
        <p:spPr>
          <a:xfrm>
            <a:off x="9528048" y="23774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9528048" y="2743200"/>
            <a:ext cx="2295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Canada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9528048" y="3291840"/>
            <a:ext cx="22951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9M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9528048" y="3685032"/>
            <a:ext cx="2295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population (screen-scraping base)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528048" y="4114800"/>
            <a:ext cx="2295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2026–27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9528048" y="4480560"/>
            <a:ext cx="2295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/ Phase 2 rollout window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528048" y="4910328"/>
            <a:ext cx="2295144" cy="0"/>
          </a:xfrm>
          <a:prstGeom prst="line">
            <a:avLst/>
          </a:prstGeom>
          <a:noFill/>
          <a:ln w="12700">
            <a:solidFill>
              <a:srgbClr val="3A438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528048" y="4983480"/>
            <a:ext cx="22951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A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Mandated regime, like UK &amp; Australia. Model tracks the UK's adoption curve as the base case.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Banking in Canada — Strategic Analysis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9902952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FORECAST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adoption scenarios, modeled off the UK's growth curve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compounding growth applied to Canada's 9M at-risk population, benchmarked against the UK's post-launch trajectory. 24-month (2-year) forecast window.</a:t>
            </a:r>
            <a:endParaRPr lang="en-US" sz="12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2011680"/>
          <a:ext cx="758952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366760" y="2103120"/>
            <a:ext cx="3246120" cy="1188720"/>
          </a:xfrm>
          <a:prstGeom prst="roundRect">
            <a:avLst>
              <a:gd name="adj" fmla="val 6154"/>
            </a:avLst>
          </a:prstGeom>
          <a:solidFill>
            <a:srgbClr val="F7F8FC"/>
          </a:solidFill>
          <a:ln w="12700">
            <a:solidFill>
              <a:srgbClr val="E5E8F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366760" y="2103120"/>
            <a:ext cx="64008" cy="1188720"/>
          </a:xfrm>
          <a:prstGeom prst="rect">
            <a:avLst/>
          </a:prstGeom>
          <a:solidFill>
            <a:srgbClr val="C77700"/>
          </a:solidFill>
          <a:ln/>
        </p:spPr>
      </p:sp>
      <p:sp>
        <p:nvSpPr>
          <p:cNvPr id="9" name="Text 6"/>
          <p:cNvSpPr/>
          <p:nvPr/>
        </p:nvSpPr>
        <p:spPr>
          <a:xfrm>
            <a:off x="8595360" y="21945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7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595360" y="245059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7.6%  by month 24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595360" y="28803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US-style slower adoption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8366760" y="3520440"/>
            <a:ext cx="3246120" cy="1188720"/>
          </a:xfrm>
          <a:prstGeom prst="roundRect">
            <a:avLst>
              <a:gd name="adj" fmla="val 6154"/>
            </a:avLst>
          </a:prstGeom>
          <a:solidFill>
            <a:srgbClr val="F7F8FC"/>
          </a:solidFill>
          <a:ln w="12700">
            <a:solidFill>
              <a:srgbClr val="E5E8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366760" y="3520440"/>
            <a:ext cx="64008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1"/>
          <p:cNvSpPr/>
          <p:nvPr/>
        </p:nvSpPr>
        <p:spPr>
          <a:xfrm>
            <a:off x="8595360" y="36118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595360" y="386791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9.2%  by month 24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8595360" y="42976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UK's mandated-regime pace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8366760" y="4937760"/>
            <a:ext cx="3246120" cy="1188720"/>
          </a:xfrm>
          <a:prstGeom prst="roundRect">
            <a:avLst>
              <a:gd name="adj" fmla="val 6154"/>
            </a:avLst>
          </a:prstGeom>
          <a:solidFill>
            <a:srgbClr val="F7F8FC"/>
          </a:solidFill>
          <a:ln w="12700">
            <a:solidFill>
              <a:srgbClr val="E5E8F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366760" y="4937760"/>
            <a:ext cx="64008" cy="1188720"/>
          </a:xfrm>
          <a:prstGeom prst="rect">
            <a:avLst/>
          </a:prstGeom>
          <a:solidFill>
            <a:srgbClr val="1E8E5A"/>
          </a:solidFill>
          <a:ln/>
        </p:spPr>
      </p:sp>
      <p:sp>
        <p:nvSpPr>
          <p:cNvPr id="19" name="Text 16"/>
          <p:cNvSpPr/>
          <p:nvPr/>
        </p:nvSpPr>
        <p:spPr>
          <a:xfrm>
            <a:off x="8595360" y="50292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595360" y="528523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11.1%  by month 24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8595360" y="57150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— 9M users already primed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Banking in Canada — Strategic Analysis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9902952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AT RISK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$2.5B in exposed revenue — concentrated in payments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 scenario. Exposure = adoption forecast × estimated share of each bank's retail segment revenue vulnerable to fintech disintermediation.</a:t>
            </a:r>
            <a:endParaRPr lang="en-US" sz="12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965960"/>
          <a:ext cx="63093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7040880" y="1965960"/>
          <a:ext cx="461772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7040880" y="5212080"/>
            <a:ext cx="461772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</p:spPr>
      </p:sp>
      <p:sp>
        <p:nvSpPr>
          <p:cNvPr id="9" name="Text 5"/>
          <p:cNvSpPr/>
          <p:nvPr/>
        </p:nvSpPr>
        <p:spPr>
          <a:xfrm>
            <a:off x="7269480" y="5321808"/>
            <a:ext cx="4160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exposure sits in payments revenue — card fees and interchange are the most immediately substitutable by fintechs.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Banking in Canada — Strategic Analysis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9902952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Big Six are not moving at the same speed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on public commitment (disclosed statements, JV participation) and digital/fintech exposure (estimated share of digital-native customer base).</a:t>
            </a:r>
            <a:endParaRPr lang="en-US" sz="12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965960"/>
          <a:ext cx="69494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4206240" y="21031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B9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&amp; DEFEND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22960" y="58064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D8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&amp; WAIT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772400" y="1965960"/>
            <a:ext cx="3886200" cy="4297680"/>
          </a:xfrm>
          <a:prstGeom prst="roundRect">
            <a:avLst>
              <a:gd name="adj" fmla="val 1882"/>
            </a:avLst>
          </a:prstGeom>
          <a:solidFill>
            <a:srgbClr val="F7F8FC"/>
          </a:solidFill>
          <a:ln w="12700">
            <a:solidFill>
              <a:srgbClr val="E5E8F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01000" y="214884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map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001000" y="2606040"/>
            <a:ext cx="3429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RBC, TD, BMO: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commitment + exposure — all three back the Cor.Connect joint venture controlling how open banking data flows to third parties.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001000" y="3520440"/>
            <a:ext cx="3429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Scotiabank / Tangerine: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Mid-tier, running parallel conversations across both the core bank and its digital-only subsidiary.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001000" y="4434840"/>
            <a:ext cx="3429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CIBC: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commitment — publicly describes itself as at a "crossroads," deciding whether to move ahead of regulation.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001000" y="5349240"/>
            <a:ext cx="3429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Bank: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exposure — smaller digital-native footprint, less urgency.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Banking in Canada — Strategic Analysis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9902952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BANKS ARE ACTUALLY SAYING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signals confirm the posture map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A1A2E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892808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TD / RBC / BMO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258568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“Jointly built Cor.Connect, a platform controlling how open banking data flows to third parties. Fintechs have lobbied for banks to be required to provide data directly and for free instead.”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347472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Logic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A1A2E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37960" y="1892808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CIBC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37960" y="2258568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“Described being at a “crossroads” after 12–18 months of collaboration and experimentation — deciding whether to proceed ahead of regulation or wait for the rules to land.”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537960" y="347472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Pesh Patel, VP Commerce Solutions &amp; Open Banking, via Open Banking Expo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A1A2E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4315968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4681728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“Has publicly and consistently supported Canada's move to an open banking framework, working with the federal government and stakeholders on implementation.”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22960" y="589788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Open Banking Expo / The Logic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63640" y="411480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A1A2E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37960" y="4315968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Scotiabank / Tangerine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37960" y="4681728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“Running parallel conversations across both its main brand and its digital-only subsidiary, exploring different use cases and client needs for each.”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537960" y="589788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Karnan Ariaratnam, via Open Banking Expo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Banking in Canada — Strategic Analysis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902952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paths forward — pick before regulation picks for you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20440" cy="3749040"/>
          </a:xfrm>
          <a:prstGeom prst="roundRect">
            <a:avLst>
              <a:gd name="adj" fmla="val 2078"/>
            </a:avLst>
          </a:prstGeom>
          <a:solidFill>
            <a:srgbClr val="141B47"/>
          </a:solidFill>
          <a:ln w="12700">
            <a:solidFill>
              <a:srgbClr val="2A34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965960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659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56032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the data layer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04672" y="3246120"/>
            <a:ext cx="73152" cy="7315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987552" y="315468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or build a Cor.Connect-style consortium platform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04672" y="4023360"/>
            <a:ext cx="73152" cy="7315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987552" y="393192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technical &amp; commercial terms for third-party access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4672" y="4800600"/>
            <a:ext cx="73152" cy="7315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4" name="Text 12"/>
          <p:cNvSpPr/>
          <p:nvPr/>
        </p:nvSpPr>
        <p:spPr>
          <a:xfrm>
            <a:off x="987552" y="470916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banks with scale to build shared infrastructure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43400" y="1691640"/>
            <a:ext cx="3520440" cy="3749040"/>
          </a:xfrm>
          <a:prstGeom prst="roundRect">
            <a:avLst>
              <a:gd name="adj" fmla="val 2078"/>
            </a:avLst>
          </a:prstGeom>
          <a:solidFill>
            <a:srgbClr val="141B47"/>
          </a:solidFill>
          <a:ln w="12700">
            <a:solidFill>
              <a:srgbClr val="2A347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1965960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C8102E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19659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0" y="256032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Co-opt the fintechs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99432" y="3246120"/>
            <a:ext cx="73152" cy="73152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0" name="Text 18"/>
          <p:cNvSpPr/>
          <p:nvPr/>
        </p:nvSpPr>
        <p:spPr>
          <a:xfrm>
            <a:off x="4782312" y="315468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partnerships with high-trust fintechs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99432" y="4023360"/>
            <a:ext cx="73152" cy="73152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2" name="Text 20"/>
          <p:cNvSpPr/>
          <p:nvPr/>
        </p:nvSpPr>
        <p:spPr>
          <a:xfrm>
            <a:off x="4782312" y="393192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time-to-market than building in-house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99432" y="4800600"/>
            <a:ext cx="73152" cy="73152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4" name="Text 22"/>
          <p:cNvSpPr/>
          <p:nvPr/>
        </p:nvSpPr>
        <p:spPr>
          <a:xfrm>
            <a:off x="4782312" y="470916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banks prioritizing speed over control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138160" y="1691640"/>
            <a:ext cx="3520440" cy="3749040"/>
          </a:xfrm>
          <a:prstGeom prst="roundRect">
            <a:avLst>
              <a:gd name="adj" fmla="val 2078"/>
            </a:avLst>
          </a:prstGeom>
          <a:solidFill>
            <a:srgbClr val="141B47"/>
          </a:solidFill>
          <a:ln w="12700">
            <a:solidFill>
              <a:srgbClr val="2A347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66760" y="1965960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1E8E5A"/>
          </a:solidFill>
          <a:ln/>
        </p:spPr>
      </p:sp>
      <p:sp>
        <p:nvSpPr>
          <p:cNvPr id="27" name="Text 25"/>
          <p:cNvSpPr/>
          <p:nvPr/>
        </p:nvSpPr>
        <p:spPr>
          <a:xfrm>
            <a:off x="8366760" y="19659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366760" y="256032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Compete as a platform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394192" y="3246120"/>
            <a:ext cx="73152" cy="73152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30" name="Text 28"/>
          <p:cNvSpPr/>
          <p:nvPr/>
        </p:nvSpPr>
        <p:spPr>
          <a:xfrm>
            <a:off x="8577072" y="315468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owned embedded-finance products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394192" y="4023360"/>
            <a:ext cx="73152" cy="73152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32" name="Text 30"/>
          <p:cNvSpPr/>
          <p:nvPr/>
        </p:nvSpPr>
        <p:spPr>
          <a:xfrm>
            <a:off x="8577072" y="393192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new revenue instead of only defending old revenue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394192" y="4800600"/>
            <a:ext cx="73152" cy="73152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34" name="Text 32"/>
          <p:cNvSpPr/>
          <p:nvPr/>
        </p:nvSpPr>
        <p:spPr>
          <a:xfrm>
            <a:off x="8577072" y="470916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digitally mature banks (Tangerine-style subsidiaries)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48640" y="5532120"/>
            <a:ext cx="11064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players (RBC, TD, BMO) should anchor on Defend while layering selective Partner moves; mid-scale banks (Scotiabank, National Bank) should prioritize Partner for speed; digitally mature subsidiaries should pilot Build now, before fintech incumbents lock in the highest-value use cases.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Banking in Canada — Strategic Analysis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902952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public, verifiable sources — not estimates alone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7F8FC"/>
          </a:solidFill>
          <a:ln w="12700">
            <a:solidFill>
              <a:srgbClr val="E5E8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202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Regulatory &amp; Government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" y="2450592"/>
            <a:ext cx="54864" cy="54864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23774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Gazette — CDBA regulations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3072384"/>
            <a:ext cx="54864" cy="54864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299923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Banking Ltd (UK) — live API performance data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77240" y="3694176"/>
            <a:ext cx="54864" cy="54864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" y="3621024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CDR.gov.au — Australia performance dashboard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77240" y="4315968"/>
            <a:ext cx="54864" cy="54864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4" name="Text 12"/>
          <p:cNvSpPr/>
          <p:nvPr/>
        </p:nvSpPr>
        <p:spPr>
          <a:xfrm>
            <a:off x="932688" y="4242816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CFPB — Section 1033 rule (US)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43400" y="169164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7F8FC"/>
          </a:solidFill>
          <a:ln w="12700">
            <a:solidFill>
              <a:srgbClr val="E5E8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19202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&amp; Industry Data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0" y="2450592"/>
            <a:ext cx="54864" cy="54864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8" name="Text 16"/>
          <p:cNvSpPr/>
          <p:nvPr/>
        </p:nvSpPr>
        <p:spPr>
          <a:xfrm>
            <a:off x="4727448" y="23774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FDX / CoinLaw — US adoption statistics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0" y="3072384"/>
            <a:ext cx="54864" cy="54864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0" name="Text 18"/>
          <p:cNvSpPr/>
          <p:nvPr/>
        </p:nvSpPr>
        <p:spPr>
          <a:xfrm>
            <a:off x="4727448" y="299923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Sahamati — India Account Aggregator metrics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3694176"/>
            <a:ext cx="54864" cy="54864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2" name="Text 20"/>
          <p:cNvSpPr/>
          <p:nvPr/>
        </p:nvSpPr>
        <p:spPr>
          <a:xfrm>
            <a:off x="4727448" y="3621024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Konsentus — EU PSD2/PSD3 tracking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0" y="4315968"/>
            <a:ext cx="54864" cy="54864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4" name="Text 22"/>
          <p:cNvSpPr/>
          <p:nvPr/>
        </p:nvSpPr>
        <p:spPr>
          <a:xfrm>
            <a:off x="4727448" y="4242816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Juniper Research — global API volume forecasts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138160" y="169164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7F8FC"/>
          </a:solidFill>
          <a:ln w="12700">
            <a:solidFill>
              <a:srgbClr val="E5E8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66760" y="19202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 Filings &amp; Press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366760" y="2450592"/>
            <a:ext cx="54864" cy="54864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8" name="Text 26"/>
          <p:cNvSpPr/>
          <p:nvPr/>
        </p:nvSpPr>
        <p:spPr>
          <a:xfrm>
            <a:off x="8522208" y="23774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Six FY2025 Annual Reports (SEDAR+)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366760" y="3072384"/>
            <a:ext cx="54864" cy="54864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30" name="Text 28"/>
          <p:cNvSpPr/>
          <p:nvPr/>
        </p:nvSpPr>
        <p:spPr>
          <a:xfrm>
            <a:off x="8522208" y="299923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Logic — Cor.Connect reporting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366760" y="3694176"/>
            <a:ext cx="54864" cy="54864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32" name="Text 30"/>
          <p:cNvSpPr/>
          <p:nvPr/>
        </p:nvSpPr>
        <p:spPr>
          <a:xfrm>
            <a:off x="8522208" y="3621024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Banking Expo — bank panel coverage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366760" y="4315968"/>
            <a:ext cx="54864" cy="54864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34" name="Text 32"/>
          <p:cNvSpPr/>
          <p:nvPr/>
        </p:nvSpPr>
        <p:spPr>
          <a:xfrm>
            <a:off x="8522208" y="4242816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McMillan LLP, DLA Piper — legal analysis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" y="516636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FF4E5"/>
          </a:solidFill>
          <a:ln w="12700">
            <a:solidFill>
              <a:srgbClr val="F0D9A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53035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C7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modeling assumption: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Product-line revenue exposure (payments/lending/deposits) uses disclosed fee data where available (RBC, National Bank) and an industry-standard 20% exposure estimate elsewhere. Treat as directional, not audited.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Banking in Canada — Strategic Analysis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902952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0" cy="6858000"/>
          </a:xfrm>
          <a:prstGeom prst="rect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10908792" y="0"/>
            <a:ext cx="1280160" cy="6858000"/>
          </a:xfrm>
          <a:prstGeom prst="rect">
            <a:avLst/>
          </a:prstGeom>
          <a:solidFill>
            <a:srgbClr val="141B47"/>
          </a:solidFill>
          <a:ln/>
        </p:spPr>
      </p:sp>
      <p:sp>
        <p:nvSpPr>
          <p:cNvPr id="4" name="Shape 2"/>
          <p:cNvSpPr/>
          <p:nvPr/>
        </p:nvSpPr>
        <p:spPr>
          <a:xfrm>
            <a:off x="9445752" y="3840480"/>
            <a:ext cx="2377440" cy="2377440"/>
          </a:xfrm>
          <a:prstGeom prst="ellipse">
            <a:avLst/>
          </a:prstGeom>
          <a:solidFill>
            <a:srgbClr val="C8102E">
              <a:alpha val="13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463040" y="246888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463040" y="32461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Banking in Canada: Threat or Opportunity for the Big Six?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463040" y="3886200"/>
            <a:ext cx="2377440" cy="0"/>
          </a:xfrm>
          <a:prstGeom prst="line">
            <a:avLst/>
          </a:prstGeom>
          <a:noFill/>
          <a:ln w="31750">
            <a:solidFill>
              <a:srgbClr val="C810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3040" y="4069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Jatin Sagwal  |  Business Analyst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63040" y="6263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A7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project — mock engagement for demonstration purposes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2026-07-18T21:31:58Z</dcterms:created>
  <dcterms:modified xsi:type="dcterms:W3CDTF">2026-07-18T21:31:58Z</dcterms:modified>
</cp:coreProperties>
</file>