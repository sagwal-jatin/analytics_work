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8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845-49FF-AF67-C112DE24C073}"/>
              </c:ext>
            </c:extLst>
          </c:dPt>
          <c:dPt>
            <c:idx val="1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845-49FF-AF67-C112DE24C07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45-49FF-AF67-C112DE24C07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45-49FF-AF67-C112DE24C07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Subscriber</c:v>
                </c:pt>
                <c:pt idx="1">
                  <c:v>Customer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45-49FF-AF67-C112DE24C0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88E5"/>
                </a:solidFill>
                <a:latin typeface="Arial"/>
              </a:defRPr>
            </a:pPr>
            <a:r>
              <a:rPr lang="en-CA" sz="1400" b="0" i="0" u="none" strike="noStrike">
                <a:solidFill>
                  <a:srgbClr val="1E88E5"/>
                </a:solidFill>
                <a:latin typeface="Arial"/>
              </a:rPr>
              <a:t>Subscribers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110000</c:v>
                </c:pt>
                <c:pt idx="1">
                  <c:v>128000</c:v>
                </c:pt>
                <c:pt idx="2">
                  <c:v>121000</c:v>
                </c:pt>
                <c:pt idx="3">
                  <c:v>127000</c:v>
                </c:pt>
                <c:pt idx="4">
                  <c:v>115000</c:v>
                </c:pt>
                <c:pt idx="5">
                  <c:v>60000</c:v>
                </c:pt>
                <c:pt idx="6">
                  <c:v>59000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E7-4AA3-92D4-EA8EFE2918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65100"/>
                </a:solidFill>
                <a:latin typeface="Arial"/>
              </a:defRPr>
            </a:pPr>
            <a:r>
              <a:rPr lang="en-CA" sz="1400" b="0" i="0" u="none" strike="noStrike">
                <a:solidFill>
                  <a:srgbClr val="E65100"/>
                </a:solidFill>
                <a:latin typeface="Arial"/>
              </a:rPr>
              <a:t>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6600</c:v>
                </c:pt>
                <c:pt idx="1">
                  <c:v>7900</c:v>
                </c:pt>
                <c:pt idx="2">
                  <c:v>8200</c:v>
                </c:pt>
                <c:pt idx="3">
                  <c:v>7700</c:v>
                </c:pt>
                <c:pt idx="4">
                  <c:v>8200</c:v>
                </c:pt>
                <c:pt idx="5">
                  <c:v>13500</c:v>
                </c:pt>
                <c:pt idx="6">
                  <c:v>18400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92-4BF0-8FF4-04663A5F0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88E5"/>
                </a:solidFill>
                <a:latin typeface="Arial"/>
              </a:defRPr>
            </a:pPr>
            <a:r>
              <a:rPr lang="en-CA" sz="1300" b="0" i="0" u="none" strike="noStrike">
                <a:solidFill>
                  <a:srgbClr val="1E88E5"/>
                </a:solidFill>
                <a:latin typeface="Arial"/>
              </a:rPr>
              <a:t>Subscribers (minutes)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(min)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13.5</c:v>
                </c:pt>
                <c:pt idx="1">
                  <c:v>12.8</c:v>
                </c:pt>
                <c:pt idx="2">
                  <c:v>11.5</c:v>
                </c:pt>
                <c:pt idx="3">
                  <c:v>11.5</c:v>
                </c:pt>
                <c:pt idx="4">
                  <c:v>13.2</c:v>
                </c:pt>
                <c:pt idx="5">
                  <c:v>16</c:v>
                </c:pt>
                <c:pt idx="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E4-4E78-AB65-9D32400AB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65100"/>
                </a:solidFill>
                <a:latin typeface="Arial"/>
              </a:defRPr>
            </a:pPr>
            <a:r>
              <a:rPr lang="en-CA" sz="1300" b="0" i="0" u="none" strike="noStrike">
                <a:solidFill>
                  <a:srgbClr val="E65100"/>
                </a:solidFill>
                <a:latin typeface="Arial"/>
              </a:rPr>
              <a:t>Customers (minutes)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Duration (min)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</c:v>
                </c:pt>
                <c:pt idx="1">
                  <c:v>68</c:v>
                </c:pt>
                <c:pt idx="2">
                  <c:v>67</c:v>
                </c:pt>
                <c:pt idx="3">
                  <c:v>130</c:v>
                </c:pt>
                <c:pt idx="4">
                  <c:v>97</c:v>
                </c:pt>
                <c:pt idx="5">
                  <c:v>82</c:v>
                </c:pt>
                <c:pt idx="6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88-45BF-916F-94C2B7595A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5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6949440" y="-91440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7498080" y="-365760"/>
            <a:ext cx="2560320" cy="256032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88E5"/>
                </a:solidFill>
              </a:rPr>
              <a:t>CYCLISTIC BIKE-SHARE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Rider Behavior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A4AE"/>
                </a:solidFill>
              </a:rPr>
              <a:t>2019–2020 Trip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2004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</a:rPr>
              <a:t>Prepared by: Jatin Sagwal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1417320"/>
          </a:xfrm>
          <a:prstGeom prst="rect">
            <a:avLst/>
          </a:prstGeom>
          <a:solidFill>
            <a:srgbClr val="1A2E4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</a:rPr>
              <a:t>Subscribers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~88%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of all trips taken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777240"/>
            <a:ext cx="2743200" cy="1417320"/>
          </a:xfrm>
          <a:prstGeom prst="rect">
            <a:avLst/>
          </a:prstGeom>
          <a:solidFill>
            <a:srgbClr val="1A2E45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264408" y="777240"/>
            <a:ext cx="2743200" cy="914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355848" y="896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</a:rPr>
              <a:t>Customers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~12%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355848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of all trips taken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777240"/>
            <a:ext cx="2743200" cy="1417320"/>
          </a:xfrm>
          <a:prstGeom prst="rect">
            <a:avLst/>
          </a:prstGeom>
          <a:solidFill>
            <a:srgbClr val="1A2E45"/>
          </a:solidFill>
          <a:ln w="254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208776" y="777240"/>
            <a:ext cx="2743200" cy="91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300216" y="896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Ride Duration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0216" y="1170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6×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00216" y="1810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AE"/>
                </a:solidFill>
              </a:rPr>
              <a:t>longer for casual riders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423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8503920" cy="53035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73152" cy="5303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Subscribers ride primarily on weekdays, peaking Tue–Thu — a clear commuter pattern.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8503920" cy="53035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73152" cy="5303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Customers ride most on weekends (Sat–Sun), indicating leisure or tourist usage.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8503920" cy="53035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320040" y="4160520"/>
            <a:ext cx="73152" cy="5303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Average subscriber ride ≈ 13 min; average customer ride exceeds 60 min — a 5–6× gap.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COMPOSITION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4572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21208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</a:rPr>
              <a:t>What the data shows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12080" y="1371600"/>
            <a:ext cx="164592" cy="16459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4"/>
          <p:cNvSpPr/>
          <p:nvPr/>
        </p:nvSpPr>
        <p:spPr>
          <a:xfrm>
            <a:off x="5486400" y="13350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Subscribers (annual members) dominate total ridership.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12080" y="2377440"/>
            <a:ext cx="164592" cy="16459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5486400" y="23408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Casual customers represent only ~12% of trips but are a strategic growth opportunity.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12080" y="3383280"/>
            <a:ext cx="164592" cy="16459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486400" y="334670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Converting even a fraction of customers to subscribers could significantly boost revenue.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TRIP VOLUME BY DAY OF WEEK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7772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06240"/>
            <a:ext cx="8778240" cy="685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3"/>
          <p:cNvSpPr/>
          <p:nvPr/>
        </p:nvSpPr>
        <p:spPr>
          <a:xfrm>
            <a:off x="274320" y="4206240"/>
            <a:ext cx="73152" cy="6858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/>
          <p:nvPr/>
        </p:nvSpPr>
        <p:spPr>
          <a:xfrm>
            <a:off x="50292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Insight: Subscriber volume drops ~50% on weekends; Customer volume nearly triples — opposite usage rhythms reveal distinct rider motivations.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AVERAGE RIDE DURATION BY DAY OF WEEK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54880" y="7772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206240"/>
            <a:ext cx="8778240" cy="685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3"/>
          <p:cNvSpPr/>
          <p:nvPr/>
        </p:nvSpPr>
        <p:spPr>
          <a:xfrm>
            <a:off x="274320" y="4206240"/>
            <a:ext cx="73152" cy="6858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/>
          <p:nvPr/>
        </p:nvSpPr>
        <p:spPr>
          <a:xfrm>
            <a:off x="502920" y="4251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Insight: Subscribers ride short &amp; efficiently (~11–16 min). Customers average 65–130 min — leisure exploration, not commuting. Thursday spike may reflect tourism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BEHAVIORAL PROFILES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114800"/>
          </a:xfrm>
          <a:prstGeom prst="rect">
            <a:avLst/>
          </a:prstGeom>
          <a:solidFill>
            <a:srgbClr val="1A2E4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Annual Subscriber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" y="1463040"/>
            <a:ext cx="109728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Peak days: Tuesday &amp; Thursday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2057400"/>
            <a:ext cx="109728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Avg duration: 11–16 minutes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2651760"/>
            <a:ext cx="109728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658368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Usage pattern: Mon–Fri consistent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" y="3246120"/>
            <a:ext cx="109728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58368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Weekend drop: ~50% fewer trips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" y="3840480"/>
            <a:ext cx="109728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658368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Likely motive: Daily commuting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160520" cy="4114800"/>
          </a:xfrm>
          <a:prstGeom prst="rect">
            <a:avLst/>
          </a:prstGeom>
          <a:solidFill>
            <a:srgbClr val="1A2E45"/>
          </a:solidFill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754880" y="777240"/>
            <a:ext cx="416052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892040" y="8229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Casual Customer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19472" y="1463040"/>
            <a:ext cx="109728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138928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Peak days: Saturday &amp; Sunday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19472" y="2057400"/>
            <a:ext cx="109728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138928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Avg duration: 65–130 minutes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109728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138928" y="2606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Usage pattern: Weekend-heavy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19472" y="3246120"/>
            <a:ext cx="109728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5138928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Weekend surge: 2–3× weekday volume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19472" y="3840480"/>
            <a:ext cx="109728" cy="1097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138928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Likely motive: Leisure / tourism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73152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Weekend Conversion Campaigns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2070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Target casual riders on Saturdays and Sundays with in-app promotions highlighting annual membership savings vs. pay-per-ride costs.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73152" cy="868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5100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Leisure-to-Loyalty Incentives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23113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Offer trial memberships with weekend-heavy perks. Capitalize on customers' longer rides by positioning memberships as the better value for extended trips.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73152" cy="8686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457200" y="291693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" y="291693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Duration-Based Messaging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25526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Use ride duration data to show customers the cost of long casual rides vs. flat annual membership — clear ROI messaging can drive conversions.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895344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73152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57200" y="39410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24128" y="39410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Seasonal &amp; Tourism Outreach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24128" y="42793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</a:rPr>
              <a:t>Leverage Thursday–Friday duration spikes to target tourists with short-term membership trials or multi-day passes as a gateway product.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583680" y="201168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E88E5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From Data to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Decision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</a:rPr>
              <a:t>Subscribers and Customers use Cyclistic in fundamentally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</a:rPr>
              <a:t>different ways. By understanding these patterns, Cyclistic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</a:rPr>
              <a:t>can design targeted campaigns to convert casual riders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0A4AE"/>
                </a:solidFill>
              </a:rPr>
              <a:t>into loyal annual members — driving sustainable growth.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434</Words>
  <Application>Microsoft Office PowerPoint</Application>
  <PresentationFormat>On-screen Show (16:9)</PresentationFormat>
  <Paragraphs>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Bike-Share: Rider Behavior Analysis</dc:title>
  <dc:subject>PptxGenJS Presentation</dc:subject>
  <dc:creator>PptxGenJS</dc:creator>
  <cp:lastModifiedBy>Jatin Sagwal</cp:lastModifiedBy>
  <cp:revision>2</cp:revision>
  <dcterms:created xsi:type="dcterms:W3CDTF">2026-04-03T10:48:48Z</dcterms:created>
  <dcterms:modified xsi:type="dcterms:W3CDTF">2026-04-03T10:55:53Z</dcterms:modified>
</cp:coreProperties>
</file>